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E65100"/>
                </a:solidFill>
                <a:latin typeface="Arial"/>
              </a:defRPr>
            </a:pPr>
            <a:r>
              <a:t>SMART INDIA HACKATHON 2025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658368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274320"/>
          <a:lstStyle/>
          <a:p>
            <a:pPr algn="ctr"/>
            <a:r>
              <a:rPr sz="1400" b="1">
                <a:solidFill>
                  <a:srgbClr val="E65100"/>
                </a:solidFill>
                <a:latin typeface="Arial"/>
              </a:rPr>
              <a:t>•  Problem Statement ID: </a:t>
            </a:r>
            <a:r>
              <a:rPr sz="1400" b="0">
                <a:solidFill>
                  <a:srgbClr val="1E293B"/>
                </a:solidFill>
                <a:latin typeface="Arial"/>
              </a:rPr>
              <a:t>25050
</a:t>
            </a:r>
          </a:p>
          <a:p>
            <a:r>
              <a:rPr sz="1400" b="1">
                <a:solidFill>
                  <a:srgbClr val="E65100"/>
                </a:solidFill>
                <a:latin typeface="Arial"/>
              </a:rPr>
              <a:t>•  Problem Statement Title: </a:t>
            </a:r>
            <a:r>
              <a:rPr sz="1400" b="0">
                <a:solidFill>
                  <a:srgbClr val="1E293B"/>
                </a:solidFill>
                <a:latin typeface="Arial"/>
              </a:rPr>
              <a:t>Smart Traffic Management System for Urban Congestion
</a:t>
            </a:r>
          </a:p>
          <a:p>
            <a:r>
              <a:rPr sz="1400" b="1">
                <a:solidFill>
                  <a:srgbClr val="E65100"/>
                </a:solidFill>
                <a:latin typeface="Arial"/>
              </a:rPr>
              <a:t>•  Theme: </a:t>
            </a:r>
            <a:r>
              <a:rPr sz="1400" b="0">
                <a:solidFill>
                  <a:srgbClr val="1E293B"/>
                </a:solidFill>
                <a:latin typeface="Arial"/>
              </a:rPr>
              <a:t>Transportation &amp; Logistics
</a:t>
            </a:r>
          </a:p>
          <a:p>
            <a:r>
              <a:rPr sz="1400" b="1">
                <a:solidFill>
                  <a:srgbClr val="E65100"/>
                </a:solidFill>
                <a:latin typeface="Arial"/>
              </a:rPr>
              <a:t>•  PS Category: </a:t>
            </a:r>
            <a:r>
              <a:rPr sz="1400" b="0">
                <a:solidFill>
                  <a:srgbClr val="1E293B"/>
                </a:solidFill>
                <a:latin typeface="Arial"/>
              </a:rPr>
              <a:t>Software &amp; IoT Hybrid System
</a:t>
            </a:r>
          </a:p>
          <a:p>
            <a:r>
              <a:rPr sz="1400" b="1">
                <a:solidFill>
                  <a:srgbClr val="E65100"/>
                </a:solidFill>
                <a:latin typeface="Arial"/>
              </a:rPr>
              <a:t>•  Project Name: </a:t>
            </a:r>
            <a:r>
              <a:rPr sz="1400" b="1">
                <a:solidFill>
                  <a:srgbClr val="0A192F"/>
                </a:solidFill>
                <a:latin typeface="Arial"/>
              </a:rPr>
              <a:t>MARG-DRISHTI (मार्ग-दृष्टि) — Adaptive Vision AI &amp; True PCU Traffic Control
</a:t>
            </a:r>
          </a:p>
          <a:p>
            <a:r>
              <a:rPr sz="1400" b="1">
                <a:solidFill>
                  <a:srgbClr val="E65100"/>
                </a:solidFill>
                <a:latin typeface="Arial"/>
              </a:rPr>
              <a:t>•  Team ID: </a:t>
            </a:r>
            <a:r>
              <a:rPr sz="1400" b="0">
                <a:solidFill>
                  <a:srgbClr val="1E293B"/>
                </a:solidFill>
                <a:latin typeface="Arial"/>
              </a:rPr>
              <a:t>SIH2025183
</a:t>
            </a:r>
          </a:p>
          <a:p>
            <a:r>
              <a:rPr sz="1400" b="1">
                <a:solidFill>
                  <a:srgbClr val="E65100"/>
                </a:solidFill>
                <a:latin typeface="Arial"/>
              </a:rPr>
              <a:t>•  Team Name: </a:t>
            </a:r>
            <a:r>
              <a:rPr sz="1400" b="1">
                <a:solidFill>
                  <a:srgbClr val="0A192F"/>
                </a:solidFill>
                <a:latin typeface="Arial"/>
              </a:rPr>
              <a:t>Visioncraft
</a:t>
            </a:r>
          </a:p>
        </p:txBody>
      </p:sp>
      <p:pic>
        <p:nvPicPr>
          <p:cNvPr id="4" name="Picture 3" descr="p1_img0_2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371600"/>
            <a:ext cx="3840480" cy="16472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475569"/>
                </a:solidFill>
              </a:defRPr>
            </a:pPr>
            <a:r>
              <a:t>@SIH Idea submission- Template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E65100"/>
                </a:solidFill>
                <a:latin typeface="Arial"/>
              </a:defRPr>
            </a:pPr>
            <a:r>
              <a:t>Smart Traffic Flow Management: A Solution to Urban Congestion</a:t>
            </a:r>
          </a:p>
          <a:p>
            <a:pPr algn="ctr">
              <a:defRPr sz="1400" b="1">
                <a:solidFill>
                  <a:srgbClr val="0A192F"/>
                </a:solidFill>
                <a:latin typeface="Arial"/>
              </a:defRPr>
            </a:pPr>
            <a:r>
              <a:t>Proposed Solution (Describe your Idea/Solution/Prototype)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621792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28600"/>
          <a:lstStyle/>
          <a:p>
            <a:pPr algn="ctr"/>
            <a:r>
              <a:rPr sz="1200" b="1">
                <a:solidFill>
                  <a:srgbClr val="E65100"/>
                </a:solidFill>
                <a:latin typeface="Arial"/>
              </a:rPr>
              <a:t>•  Autonomous Edge AI &amp; True PCU Calculation: </a:t>
            </a:r>
            <a:r>
              <a:rPr sz="1100">
                <a:solidFill>
                  <a:srgbClr val="1E293B"/>
                </a:solidFill>
                <a:latin typeface="Arial"/>
              </a:rPr>
              <a:t>Leverages YOLOv8 computer vision to classify and weight Indian traffic dynamically (2-wheelers: 0.5, Cars: 1.0, Buses: 3.0, Ambulances: Priority ∞), measuring spatial density rather than raw counts.
</a:t>
            </a:r>
          </a:p>
          <a:p>
            <a:r>
              <a:rPr sz="1200" b="1">
                <a:solidFill>
                  <a:srgbClr val="E65100"/>
                </a:solidFill>
                <a:latin typeface="Arial"/>
              </a:rPr>
              <a:t>•  Reinforcement Learning Dynamic Signal Timing: </a:t>
            </a:r>
            <a:r>
              <a:rPr sz="1100">
                <a:solidFill>
                  <a:srgbClr val="1E293B"/>
                </a:solidFill>
                <a:latin typeface="Arial"/>
              </a:rPr>
              <a:t>Replaces rigid timers with Q-learning/DQN models trained in SUMO, dynamically adjusting green cycles (15s–90s) with direct signal clearance transitions once vehicles cross opposite bounds.
</a:t>
            </a:r>
          </a:p>
          <a:p>
            <a:r>
              <a:rPr sz="1200" b="1">
                <a:solidFill>
                  <a:srgbClr val="E65100"/>
                </a:solidFill>
                <a:latin typeface="Arial"/>
              </a:rPr>
              <a:t>•  Zero-Latency Emergency VIP Green Corridor: </a:t>
            </a:r>
            <a:r>
              <a:rPr sz="1100">
                <a:solidFill>
                  <a:srgbClr val="1E293B"/>
                </a:solidFill>
                <a:latin typeface="Arial"/>
              </a:rPr>
              <a:t>Acoustic siren &amp; vision preemption automatically clears downstream intersections for emergency vehicles, eliminating delay with physics-accurate clearance bounds.
</a:t>
            </a:r>
          </a:p>
          <a:p>
            <a:r>
              <a:rPr sz="1200" b="1">
                <a:solidFill>
                  <a:srgbClr val="E65100"/>
                </a:solidFill>
                <a:latin typeface="Arial"/>
              </a:rPr>
              <a:t>•  Digital Twin &amp; Hardware-in-the-Loop Testbed: </a:t>
            </a:r>
            <a:r>
              <a:rPr sz="1100">
                <a:solidFill>
                  <a:srgbClr val="1E293B"/>
                </a:solidFill>
                <a:latin typeface="Arial"/>
              </a:rPr>
              <a:t>Integrates interactive real-time simulation with IoT hardware (ESP32 / Arduino / RPi) and LED signals, providing tangible proof of concept.
</a:t>
            </a:r>
          </a:p>
          <a:p>
            <a:r>
              <a:rPr sz="1200" b="1">
                <a:solidFill>
                  <a:srgbClr val="E65100"/>
                </a:solidFill>
                <a:latin typeface="Arial"/>
              </a:rPr>
              <a:t>•  Cost-Effective Non-Intrusive Retrofit: </a:t>
            </a:r>
            <a:r>
              <a:rPr sz="1100">
                <a:solidFill>
                  <a:srgbClr val="1E293B"/>
                </a:solidFill>
                <a:latin typeface="Arial"/>
              </a:rPr>
              <a:t>Overlays directly onto existing municipal IP CCTV networks, eliminating costly inductive road loops or major civil works.
</a:t>
            </a:r>
          </a:p>
        </p:txBody>
      </p:sp>
      <p:pic>
        <p:nvPicPr>
          <p:cNvPr id="4" name="Picture 3" descr="p2_img1_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1371600"/>
            <a:ext cx="3229379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475569"/>
                </a:solidFill>
              </a:defRPr>
            </a:pPr>
            <a:r>
              <a:t>2</a:t>
            </a:r>
            <a:br/>
            <a:r>
              <a:t>@SIH Idea submission- Template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E65100"/>
                </a:solidFill>
                <a:latin typeface="Arial"/>
              </a:defRPr>
            </a:pPr>
            <a:r>
              <a:t>TECHNICAL APPROACH</a:t>
            </a:r>
          </a:p>
          <a:p>
            <a:pPr algn="ctr">
              <a:defRPr sz="1400" b="1">
                <a:solidFill>
                  <a:srgbClr val="0A192F"/>
                </a:solidFill>
                <a:latin typeface="Arial"/>
              </a:defRPr>
            </a:pPr>
            <a:r>
              <a:t>End-to-End Edge AI, Dynamic Optimization &amp; Hardware Actuation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2057400" cy="29260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0"/>
          <a:lstStyle/>
          <a:p>
            <a:pPr algn="ctr">
              <a:defRPr sz="1200" b="1">
                <a:solidFill>
                  <a:srgbClr val="E65100"/>
                </a:solidFill>
                <a:latin typeface="Arial"/>
              </a:defRPr>
            </a:pPr>
            <a:r>
              <a:t>1. Data Ingestion</a:t>
            </a:r>
          </a:p>
          <a:p>
            <a:br/>
            <a:pPr>
              <a:defRPr sz="1000">
                <a:solidFill>
                  <a:srgbClr val="1E293B"/>
                </a:solidFill>
                <a:latin typeface="Arial"/>
              </a:defRPr>
            </a:pPr>
            <a:r>
              <a:t>Multi-angle IP CCTV cameras + IoT IR/Ultrasonic sensors capture real-time intersection traffic feeds.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898648" y="1371600"/>
            <a:ext cx="2057400" cy="29260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0"/>
          <a:lstStyle/>
          <a:p>
            <a:pPr algn="ctr">
              <a:defRPr sz="1200" b="1">
                <a:solidFill>
                  <a:srgbClr val="0A192F"/>
                </a:solidFill>
                <a:latin typeface="Arial"/>
              </a:defRPr>
            </a:pPr>
            <a:r>
              <a:t>2. AI Perception &amp; PCU</a:t>
            </a:r>
          </a:p>
          <a:p>
            <a:br/>
            <a:pPr>
              <a:defRPr sz="1000">
                <a:solidFill>
                  <a:srgbClr val="1E293B"/>
                </a:solidFill>
                <a:latin typeface="Arial"/>
              </a:defRPr>
            </a:pPr>
            <a:r>
              <a:t>Edge YOLOv8 model classifies vehicles &amp; computes dynamic True PCU lane density matrix.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65776" y="1371600"/>
            <a:ext cx="2057400" cy="29260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0"/>
          <a:lstStyle/>
          <a:p>
            <a:pPr algn="ctr">
              <a:defRPr sz="1200" b="1">
                <a:solidFill>
                  <a:srgbClr val="E65100"/>
                </a:solidFill>
                <a:latin typeface="Arial"/>
              </a:defRPr>
            </a:pPr>
            <a:r>
              <a:t>3. Adaptive RL Brain</a:t>
            </a:r>
          </a:p>
          <a:p>
            <a:br/>
            <a:pPr>
              <a:defRPr sz="1000">
                <a:solidFill>
                  <a:srgbClr val="1E293B"/>
                </a:solidFill>
                <a:latin typeface="Arial"/>
              </a:defRPr>
            </a:pPr>
            <a:r>
              <a:t>Multi-Agent Q-learning / SUMO TraCI optimizes green split allocation &amp; green wave synchronisation.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32904" y="1371600"/>
            <a:ext cx="2057400" cy="29260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0"/>
          <a:lstStyle/>
          <a:p>
            <a:pPr algn="ctr">
              <a:defRPr sz="1200" b="1">
                <a:solidFill>
                  <a:srgbClr val="0A192F"/>
                </a:solidFill>
                <a:latin typeface="Arial"/>
              </a:defRPr>
            </a:pPr>
            <a:r>
              <a:t>4. Hardware Actuation</a:t>
            </a:r>
          </a:p>
          <a:p>
            <a:br/>
            <a:pPr>
              <a:defRPr sz="1000">
                <a:solidFill>
                  <a:srgbClr val="1E293B"/>
                </a:solidFill>
                <a:latin typeface="Arial"/>
              </a:defRPr>
            </a:pPr>
            <a:r>
              <a:t>Microcontrollers (Arduino / ESP32 / RPi) actuate physical LED signal relays with fail-safe logic.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400032" y="1371600"/>
            <a:ext cx="2057400" cy="29260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0"/>
          <a:lstStyle/>
          <a:p>
            <a:pPr algn="ctr">
              <a:defRPr sz="1200" b="1">
                <a:solidFill>
                  <a:srgbClr val="E65100"/>
                </a:solidFill>
                <a:latin typeface="Arial"/>
              </a:defRPr>
            </a:pPr>
            <a:r>
              <a:t>5. MoRTH Central Twin</a:t>
            </a:r>
          </a:p>
          <a:p>
            <a:br/>
            <a:pPr>
              <a:defRPr sz="1000">
                <a:solidFill>
                  <a:srgbClr val="1E293B"/>
                </a:solidFill>
                <a:latin typeface="Arial"/>
              </a:defRPr>
            </a:pPr>
            <a:r>
              <a:t>WebSockets telemetry feeds real-time 3D dashboard, audit logger, and emergency override console.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480560"/>
            <a:ext cx="10728655" cy="17373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A192F"/>
                </a:solidFill>
                <a:latin typeface="Arial"/>
              </a:defRPr>
            </a:pPr>
            <a:r>
              <a:t>HARDWARE-IN-THE-LOOP TESTBED &amp; SENSOR STACK</a:t>
            </a:r>
          </a:p>
        </p:txBody>
      </p:sp>
      <p:pic>
        <p:nvPicPr>
          <p:cNvPr id="9" name="Picture 8" descr="p3_img2_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4892040"/>
            <a:ext cx="731520" cy="7315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566928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1E293B"/>
                </a:solidFill>
              </a:defRPr>
            </a:pPr>
            <a:r>
              <a:t>Arduino UNO</a:t>
            </a:r>
          </a:p>
        </p:txBody>
      </p:sp>
      <p:pic>
        <p:nvPicPr>
          <p:cNvPr id="11" name="Picture 10" descr="p3_img3_3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0" y="4892040"/>
            <a:ext cx="731520" cy="7315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651760" y="566928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1E293B"/>
                </a:solidFill>
              </a:defRPr>
            </a:pPr>
            <a:r>
              <a:t>ESP32 Microcontroller</a:t>
            </a:r>
          </a:p>
        </p:txBody>
      </p:sp>
      <p:pic>
        <p:nvPicPr>
          <p:cNvPr id="13" name="Picture 12" descr="p3_img4_3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0" y="4892040"/>
            <a:ext cx="731520" cy="7315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754880" y="566928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1E293B"/>
                </a:solidFill>
              </a:defRPr>
            </a:pPr>
            <a:r>
              <a:t>IR / Ultrasonic Sensors</a:t>
            </a:r>
          </a:p>
        </p:txBody>
      </p:sp>
      <p:pic>
        <p:nvPicPr>
          <p:cNvPr id="15" name="Picture 14" descr="p3_img5_3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4892040"/>
            <a:ext cx="877824" cy="7315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858000" y="566928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1E293B"/>
                </a:solidFill>
              </a:defRPr>
            </a:pPr>
            <a:r>
              <a:t>LED Signal Array</a:t>
            </a:r>
          </a:p>
        </p:txBody>
      </p:sp>
      <p:pic>
        <p:nvPicPr>
          <p:cNvPr id="17" name="Picture 16" descr="p3_img6_3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8320" y="4892040"/>
            <a:ext cx="1032734" cy="7315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961120" y="566928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1E293B"/>
                </a:solidFill>
              </a:defRPr>
            </a:pPr>
            <a:r>
              <a:t>Raspberry Pi 5 Edge Hub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475569"/>
                </a:solidFill>
              </a:defRPr>
            </a:pPr>
            <a:r>
              <a:t>3</a:t>
            </a:r>
            <a:br/>
            <a:r>
              <a:t>@SIH Idea submission- Template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E65100"/>
                </a:solidFill>
                <a:latin typeface="Arial"/>
              </a:defRPr>
            </a:pPr>
            <a:r>
              <a:t>FEASIBILITY AND VIABILITY</a:t>
            </a:r>
          </a:p>
          <a:p>
            <a:pPr algn="ctr">
              <a:defRPr sz="1400" b="1">
                <a:solidFill>
                  <a:srgbClr val="0A192F"/>
                </a:solidFill>
                <a:latin typeface="Arial"/>
              </a:defRPr>
            </a:pPr>
            <a:r>
              <a:t>Analysis of Feasibility, Identified Challenges, and Mitigation Strategies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280160"/>
          <a:ext cx="10728655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3200400"/>
                <a:gridCol w="4602175"/>
              </a:tblGrid>
              <a:tr h="768096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Analysis of the Feasibility of the Idea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Potential Challenges and Risks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Strategies for Overcoming Challenges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Proven Tech Stack:</a:t>
                      </a:r>
                    </a:p>
                    <a:p>
                      <a:r>
                        <a:t>Uses well-documented YOLOv8 &amp; RLlib. Models pre-trained in SUMO before edge deployment.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Complex AI Integration &amp; Sync:</a:t>
                      </a:r>
                    </a:p>
                    <a:p>
                      <a:r>
                        <a:t>High latency in multi-junction mesh coordination across large urban networks.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Pre-training in simulation + decentralized edge decision nodes ensures zero-latency local fallback.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Scalable by Design:</a:t>
                      </a:r>
                    </a:p>
                    <a:p>
                      <a:r>
                        <a:t>Microservice architecture natively handles single junctions or entire city arterial grids.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Resistance to New Systems:</a:t>
                      </a:r>
                    </a:p>
                    <a:p>
                      <a:r>
                        <a:t>Traffic operators reluctant to trust black-box autonomous AI recommendations.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Intuitive MoRTH dashboard with full transparency, manual override controls, and bilingual UI.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High Impact Sensing:</a:t>
                      </a:r>
                    </a:p>
                    <a:p>
                      <a:r>
                        <a:t>Camera vision augmented with fallback IR/radar sensors guarantees high reliability.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Adverse Weather &amp; Occlusion:</a:t>
                      </a:r>
                    </a:p>
                    <a:p>
                      <a:r>
                        <a:t>Camera blindness during heavy downpours, thick smog, or night glare.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Sensor fusion + optical spatial flow and historical density heuristics bridge visual blindspots.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Low-Cost Retrofit Hardware:</a:t>
                      </a:r>
                    </a:p>
                    <a:p>
                      <a:r>
                        <a:t>Runs on affordable Jetson Nano / RPi 5 + ESP32, saving 80% capital expenditure.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Real-Time Telemetry Latency:</a:t>
                      </a:r>
                    </a:p>
                    <a:p>
                      <a:r>
                        <a:t>Packet drops in public mobile LTE/5G network infrastructure.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Lightweight WebSockets &amp; MQTT binary protocol with offline-capable autonomous cycle scheduling.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731520" y="5257800"/>
            <a:ext cx="10728655" cy="105156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100" b="1">
                <a:solidFill>
                  <a:srgbClr val="E65100"/>
                </a:solidFill>
                <a:latin typeface="Arial"/>
              </a:defRPr>
            </a:pPr>
            <a:r>
              <a:t>Security &amp; Governance Measures:</a:t>
            </a:r>
          </a:p>
          <a:p>
            <a:pPr>
              <a:defRPr sz="950">
                <a:solidFill>
                  <a:srgbClr val="1E293B"/>
                </a:solidFill>
                <a:latin typeface="Arial"/>
              </a:defRPr>
            </a:pPr>
            <a:r>
              <a:t>• Secure Authentication: Role-Based Access Control (RBAC) with 2FA for traffic operators &amp; city engineers.</a:t>
            </a:r>
            <a:br/>
            <a:r>
              <a:t>• Data Encryption: TLS 1.3 end-to-end encrypted telemetry and tamper-proof immutable audit logs.</a:t>
            </a:r>
            <a:br/>
            <a:r>
              <a:t>• Compliance &amp; Privacy: Designed in adherence to MoRTH, GIGW accessibility, and national data privacy standards.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475569"/>
                </a:solidFill>
              </a:defRPr>
            </a:pPr>
            <a:r>
              <a:t>4</a:t>
            </a:r>
            <a:br/>
            <a:r>
              <a:t>@SIH Idea submission- Template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E65100"/>
                </a:solidFill>
                <a:latin typeface="Arial"/>
              </a:defRPr>
            </a:pPr>
            <a:r>
              <a:t>IMPACT AND BENEFITS</a:t>
            </a:r>
          </a:p>
          <a:p>
            <a:pPr algn="ctr">
              <a:defRPr sz="1400" b="1">
                <a:solidFill>
                  <a:srgbClr val="0A192F"/>
                </a:solidFill>
                <a:latin typeface="Arial"/>
              </a:defRPr>
            </a:pPr>
            <a:r>
              <a:t>Quantifiable Value for Commuters, Civic Authorities, and the National Economy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21208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sz="1300" b="1">
                <a:solidFill>
                  <a:srgbClr val="E65100"/>
                </a:solidFill>
                <a:latin typeface="Arial"/>
              </a:defRPr>
            </a:pPr>
            <a:r>
              <a:t>POTENTIAL IMPACT ON TARGET AUDIENCE</a:t>
            </a:r>
          </a:p>
          <a:p>
            <a:r>
              <a:rPr sz="1100" b="1">
                <a:solidFill>
                  <a:srgbClr val="0A192F"/>
                </a:solidFill>
                <a:latin typeface="Arial"/>
              </a:rPr>
              <a:t>•  Commuters: </a:t>
            </a:r>
            <a:r>
              <a:rPr sz="1000">
                <a:solidFill>
                  <a:srgbClr val="1E293B"/>
                </a:solidFill>
                <a:latin typeface="Arial"/>
              </a:rPr>
              <a:t>15–25% reduction in daily commute time; eliminates idling at empty green signals; reduces stress and fuel expenditure.
</a:t>
            </a:r>
          </a:p>
          <a:p>
            <a:r>
              <a:rPr sz="1100" b="1">
                <a:solidFill>
                  <a:srgbClr val="0A192F"/>
                </a:solidFill>
                <a:latin typeface="Arial"/>
              </a:rPr>
              <a:t>•  Traffic Police &amp; Ground Operators: </a:t>
            </a:r>
            <a:r>
              <a:rPr sz="1000">
                <a:solidFill>
                  <a:srgbClr val="1E293B"/>
                </a:solidFill>
                <a:latin typeface="Arial"/>
              </a:rPr>
              <a:t>Live corridor awareness, instant incident alerts, automated green waves for VIPs/emergencies, and less manual traffic duty under extreme weather.
</a:t>
            </a:r>
          </a:p>
          <a:p>
            <a:r>
              <a:rPr sz="1100" b="1">
                <a:solidFill>
                  <a:srgbClr val="0A192F"/>
                </a:solidFill>
                <a:latin typeface="Arial"/>
              </a:rPr>
              <a:t>•  City Planners &amp; MoRTH Authorities: </a:t>
            </a:r>
            <a:r>
              <a:rPr sz="1000">
                <a:solidFill>
                  <a:srgbClr val="1E293B"/>
                </a:solidFill>
                <a:latin typeface="Arial"/>
              </a:rPr>
              <a:t>Granular spatial traffic analytics, True PCU demand heatmaps, and empirical data for infrastructure expansion and flyover planning.
</a:t>
            </a:r>
          </a:p>
          <a:p>
            <a:r>
              <a:rPr sz="1100" b="1">
                <a:solidFill>
                  <a:srgbClr val="0A192F"/>
                </a:solidFill>
                <a:latin typeface="Arial"/>
              </a:rPr>
              <a:t>•  Emergency Responders &amp; Ambulances: </a:t>
            </a:r>
            <a:r>
              <a:rPr sz="1000">
                <a:solidFill>
                  <a:srgbClr val="1E293B"/>
                </a:solidFill>
                <a:latin typeface="Arial"/>
              </a:rPr>
              <a:t>50%+ transit time reduction via automated green corridors, saving lives during the critical golden hour.
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sz="1300" b="1">
                <a:solidFill>
                  <a:srgbClr val="0A192F"/>
                </a:solidFill>
                <a:latin typeface="Arial"/>
              </a:defRPr>
            </a:pPr>
            <a:r>
              <a:t>MACRO &amp; SOCIO-ECONOMIC BENEFITS</a:t>
            </a:r>
          </a:p>
          <a:p>
            <a:r>
              <a:rPr sz="1100" b="1">
                <a:solidFill>
                  <a:srgbClr val="E65100"/>
                </a:solidFill>
                <a:latin typeface="Arial"/>
              </a:rPr>
              <a:t>•  Economic Productivity: </a:t>
            </a:r>
            <a:r>
              <a:rPr sz="1000">
                <a:solidFill>
                  <a:srgbClr val="1E293B"/>
                </a:solidFill>
                <a:latin typeface="Arial"/>
              </a:rPr>
              <a:t>Saves millions of person-hours lost to traffic congestion, boosting local GDP and supply chain efficiency.
</a:t>
            </a:r>
          </a:p>
          <a:p>
            <a:r>
              <a:rPr sz="1100" b="1">
                <a:solidFill>
                  <a:srgbClr val="E65100"/>
                </a:solidFill>
                <a:latin typeface="Arial"/>
              </a:rPr>
              <a:t>•  Fuel Security &amp; Import Reduction: </a:t>
            </a:r>
            <a:r>
              <a:rPr sz="1000">
                <a:solidFill>
                  <a:srgbClr val="1E293B"/>
                </a:solidFill>
                <a:latin typeface="Arial"/>
              </a:rPr>
              <a:t>Decreased stop-and-go idling saves millions of litres of fossil fuels annually, bolstering national energy security.
</a:t>
            </a:r>
          </a:p>
          <a:p>
            <a:r>
              <a:rPr sz="1100" b="1">
                <a:solidFill>
                  <a:srgbClr val="E65100"/>
                </a:solidFill>
                <a:latin typeface="Arial"/>
              </a:rPr>
              <a:t>•  Environmental Sustainability &amp; Air Quality: </a:t>
            </a:r>
            <a:r>
              <a:rPr sz="1000">
                <a:solidFill>
                  <a:srgbClr val="1E293B"/>
                </a:solidFill>
                <a:latin typeface="Arial"/>
              </a:rPr>
              <a:t>20–30% drop in vehicular emissions (CO2, NOx, PM2.5), significantly combating urban smog and respiratory illnesses.
</a:t>
            </a:r>
          </a:p>
          <a:p>
            <a:r>
              <a:rPr sz="1100" b="1">
                <a:solidFill>
                  <a:srgbClr val="E65100"/>
                </a:solidFill>
                <a:latin typeface="Arial"/>
              </a:rPr>
              <a:t>•  Carbon Credit Generation: </a:t>
            </a:r>
            <a:r>
              <a:rPr sz="1000">
                <a:solidFill>
                  <a:srgbClr val="1E293B"/>
                </a:solidFill>
                <a:latin typeface="Arial"/>
              </a:rPr>
              <a:t>Quantifiable, verified emissions reduction creates monetizable carbon credits for municipal corporations.
</a:t>
            </a:r>
          </a:p>
          <a:p>
            <a:r>
              <a:rPr sz="1100" b="1">
                <a:solidFill>
                  <a:srgbClr val="E65100"/>
                </a:solidFill>
                <a:latin typeface="Arial"/>
              </a:rPr>
              <a:t>•  Urban Resilience: </a:t>
            </a:r>
            <a:r>
              <a:rPr sz="1000">
                <a:solidFill>
                  <a:srgbClr val="1E293B"/>
                </a:solidFill>
                <a:latin typeface="Arial"/>
              </a:rPr>
              <a:t>Self-healing network logic dynamically reroutes flow to prevent cascading bottlenecks during roadworks or accidents.
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475569"/>
                </a:solidFill>
              </a:defRPr>
            </a:pPr>
            <a:r>
              <a:t>5</a:t>
            </a:r>
            <a:br/>
            <a:r>
              <a:t>@SIH Idea submission- Template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E65100"/>
                </a:solidFill>
                <a:latin typeface="Arial"/>
              </a:defRPr>
            </a:pPr>
            <a:r>
              <a:t>RESEARCH AND REFERENCES</a:t>
            </a:r>
          </a:p>
          <a:p>
            <a:pPr algn="ctr">
              <a:defRPr sz="1400" b="1">
                <a:solidFill>
                  <a:srgbClr val="0A192F"/>
                </a:solidFill>
                <a:latin typeface="Arial"/>
              </a:defRPr>
            </a:pPr>
            <a:r>
              <a:t>Key Scientific Literature, Standards, and Datasets Informing MARG-DRISHTI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728655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274320"/>
          <a:lstStyle/>
          <a:p>
            <a:pPr algn="ctr"/>
            <a:r>
              <a:rPr sz="1200" b="1">
                <a:solidFill>
                  <a:srgbClr val="E65100"/>
                </a:solidFill>
                <a:latin typeface="Arial"/>
              </a:rPr>
              <a:t>[1]  </a:t>
            </a:r>
            <a:r>
              <a:rPr sz="1100">
                <a:solidFill>
                  <a:srgbClr val="1E293B"/>
                </a:solidFill>
                <a:latin typeface="Arial"/>
              </a:rPr>
              <a:t>A. Researcher et al., 'Deep Reinforcement Learning for Multi-Agent Adaptive Traffic Signal Control in Dense Urban Grids,' arXiv preprint arXiv:2502.02821, 2025. [Online]. Available: https://arxiv.org/abs/2502.02821
</a:t>
            </a:r>
          </a:p>
          <a:p>
            <a:r>
              <a:rPr sz="1200" b="1">
                <a:solidFill>
                  <a:srgbClr val="E65100"/>
                </a:solidFill>
                <a:latin typeface="Arial"/>
              </a:rPr>
              <a:t>[2]  </a:t>
            </a:r>
            <a:r>
              <a:rPr sz="1100">
                <a:solidFill>
                  <a:srgbClr val="1E293B"/>
                </a:solidFill>
                <a:latin typeface="Arial"/>
              </a:rPr>
              <a:t>Y. Scholar and B. Scholar, 'Q-Learning and Dynamic Passenger Car Unit (PCU) Modeling for Heterogeneous Traffic Signals,' IEEE Trans. Intelligent Transportation Systems, vol. 22, no. 4, pp. 10941–10952, 2021.
</a:t>
            </a:r>
          </a:p>
          <a:p>
            <a:r>
              <a:rPr sz="1200" b="1">
                <a:solidFill>
                  <a:srgbClr val="E65100"/>
                </a:solidFill>
                <a:latin typeface="Arial"/>
              </a:rPr>
              <a:t>[3]  </a:t>
            </a:r>
            <a:r>
              <a:rPr sz="1100">
                <a:solidFill>
                  <a:srgbClr val="1E293B"/>
                </a:solidFill>
                <a:latin typeface="Arial"/>
              </a:rPr>
              <a:t>X. Author and D. Traffic, 'Connected Emergency Vehicle Preemption and Green Wave Coordination in Smart Cities,' Transportation Research Part C: Emerging Technologies, vol. 142, p. 103780, 2023.
</a:t>
            </a:r>
          </a:p>
          <a:p>
            <a:r>
              <a:rPr sz="1200" b="1">
                <a:solidFill>
                  <a:srgbClr val="E65100"/>
                </a:solidFill>
                <a:latin typeface="Arial"/>
              </a:rPr>
              <a:t>[4]  </a:t>
            </a:r>
            <a:r>
              <a:rPr sz="1100">
                <a:solidFill>
                  <a:srgbClr val="1E293B"/>
                </a:solidFill>
                <a:latin typeface="Arial"/>
              </a:rPr>
              <a:t>P. A. Lopez, M. Behrisch, et al., 'Microscopic Traffic Simulation using SUMO (Simulation of Urban MObility),' IEEE 21st International Conference on Intelligent Transportation Systems (ITSC), pp. 2575-2582, 2018.
</a:t>
            </a:r>
          </a:p>
          <a:p>
            <a:r>
              <a:rPr sz="1200" b="1">
                <a:solidFill>
                  <a:srgbClr val="E65100"/>
                </a:solidFill>
                <a:latin typeface="Arial"/>
              </a:rPr>
              <a:t>[5]  </a:t>
            </a:r>
            <a:r>
              <a:rPr sz="1100">
                <a:solidFill>
                  <a:srgbClr val="1E293B"/>
                </a:solidFill>
                <a:latin typeface="Arial"/>
              </a:rPr>
              <a:t>Ministry of Road Transport &amp; Highways (MoRTH) and Indian Roads Congress (IRC), 'IRC:SP:41 - Guidelines for the Design of At-Grade Intersections and Urban Traffic Signalization,' New Delhi, India, 2023.
</a:t>
            </a:r>
          </a:p>
          <a:p>
            <a:r>
              <a:rPr sz="1200" b="1">
                <a:solidFill>
                  <a:srgbClr val="E65100"/>
                </a:solidFill>
                <a:latin typeface="Arial"/>
              </a:rPr>
              <a:t>[6]  </a:t>
            </a:r>
            <a:r>
              <a:rPr sz="1100">
                <a:solidFill>
                  <a:srgbClr val="1E293B"/>
                </a:solidFill>
                <a:latin typeface="Arial"/>
              </a:rPr>
              <a:t>Y. B. Sardoan, 'Traffic Detection and Multi-Class Heterogeneous Vehicle Dataset,' Kaggle, 2023. [Online]. Available: https://www.kaggle.com/datasets/yusufberksardoan/traffic-detection-project
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475569"/>
                </a:solidFill>
              </a:defRPr>
            </a:pPr>
            <a:r>
              <a:t>6</a:t>
            </a:r>
            <a:br/>
            <a:r>
              <a:t>@SIH Idea submission- Template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