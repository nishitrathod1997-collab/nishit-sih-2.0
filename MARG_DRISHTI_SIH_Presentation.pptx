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A1F44"/>
                </a:solidFill>
              </a:defRPr>
            </a:pPr>
            <a:r>
              <a:t>SMART INDIA HACKATHON 2025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1508760"/>
            <a:ext cx="9448495" cy="777240"/>
          </a:xfrm>
          <a:prstGeom prst="roundRect">
            <a:avLst/>
          </a:prstGeom>
          <a:solidFill>
            <a:srgbClr val="0A1F44"/>
          </a:solidFill>
          <a:ln w="190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5A623"/>
                </a:solidFill>
              </a:defRPr>
            </a:pPr>
            <a:r>
              <a:t>MARG-DRISHTI (मार्ग-दृष्टि) — AI Intelligent Traffic Management System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560320"/>
            <a:ext cx="6217920" cy="36576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274320"/>
          <a:lstStyle/>
          <a:p>
            <a:pPr algn="ctr">
              <a:spcAft>
                <a:spcPts val="1000"/>
              </a:spcAft>
            </a:pPr>
            <a:r>
              <a:rPr b="1" sz="1400">
                <a:solidFill>
                  <a:srgbClr val="0A1F44"/>
                </a:solidFill>
              </a:rPr>
              <a:t>• Problem Statement ID:</a:t>
            </a:r>
            <a:r>
              <a:rPr b="0" sz="1400">
                <a:solidFill>
                  <a:srgbClr val="1E293B"/>
                </a:solidFill>
              </a:rPr>
              <a:t> 25050</a:t>
            </a:r>
          </a:p>
          <a:p>
            <a:pPr>
              <a:spcAft>
                <a:spcPts val="1000"/>
              </a:spcAft>
            </a:pPr>
            <a:r>
              <a:rPr b="1" sz="1400">
                <a:solidFill>
                  <a:srgbClr val="0A1F44"/>
                </a:solidFill>
              </a:rPr>
              <a:t>• Problem Statement Title:</a:t>
            </a:r>
            <a:r>
              <a:rPr b="0" sz="1400">
                <a:solidFill>
                  <a:srgbClr val="1E293B"/>
                </a:solidFill>
              </a:rPr>
              <a:t> Smart Traffic Management System for Urban Congestion</a:t>
            </a:r>
          </a:p>
          <a:p>
            <a:pPr>
              <a:spcAft>
                <a:spcPts val="1000"/>
              </a:spcAft>
            </a:pPr>
            <a:r>
              <a:rPr b="1" sz="1400">
                <a:solidFill>
                  <a:srgbClr val="0A1F44"/>
                </a:solidFill>
              </a:rPr>
              <a:t>• Theme:</a:t>
            </a:r>
            <a:r>
              <a:rPr b="0" sz="1400">
                <a:solidFill>
                  <a:srgbClr val="1E293B"/>
                </a:solidFill>
              </a:rPr>
              <a:t> Transportation &amp; Logistics</a:t>
            </a:r>
          </a:p>
          <a:p>
            <a:pPr>
              <a:spcAft>
                <a:spcPts val="1000"/>
              </a:spcAft>
            </a:pPr>
            <a:r>
              <a:rPr b="1" sz="1400">
                <a:solidFill>
                  <a:srgbClr val="0A1F44"/>
                </a:solidFill>
              </a:rPr>
              <a:t>• PS Category:</a:t>
            </a:r>
            <a:r>
              <a:rPr b="0" sz="1400">
                <a:solidFill>
                  <a:srgbClr val="1E293B"/>
                </a:solidFill>
              </a:rPr>
              <a:t> Software</a:t>
            </a:r>
          </a:p>
          <a:p>
            <a:pPr>
              <a:spcAft>
                <a:spcPts val="1000"/>
              </a:spcAft>
            </a:pPr>
            <a:r>
              <a:rPr b="1" sz="1400">
                <a:solidFill>
                  <a:srgbClr val="0A1F44"/>
                </a:solidFill>
              </a:rPr>
              <a:t>• Team ID:</a:t>
            </a:r>
            <a:r>
              <a:rPr b="0" sz="1400">
                <a:solidFill>
                  <a:srgbClr val="1E293B"/>
                </a:solidFill>
              </a:rPr>
              <a:t> SIH2025183</a:t>
            </a:r>
          </a:p>
          <a:p>
            <a:pPr>
              <a:spcAft>
                <a:spcPts val="1000"/>
              </a:spcAft>
            </a:pPr>
            <a:r>
              <a:rPr b="1" sz="1400">
                <a:solidFill>
                  <a:srgbClr val="0A1F44"/>
                </a:solidFill>
              </a:rPr>
              <a:t>• Team Name:</a:t>
            </a:r>
            <a:r>
              <a:rPr b="0" sz="1400">
                <a:solidFill>
                  <a:srgbClr val="1E293B"/>
                </a:solidFill>
              </a:rPr>
              <a:t> Visioncraft</a:t>
            </a:r>
          </a:p>
          <a:p>
            <a:pPr>
              <a:spcAft>
                <a:spcPts val="1000"/>
              </a:spcAft>
            </a:pPr>
            <a:r>
              <a:rPr b="1" sz="1400">
                <a:solidFill>
                  <a:srgbClr val="0A1F44"/>
                </a:solidFill>
              </a:rPr>
              <a:t>• Target Focus:</a:t>
            </a:r>
            <a:r>
              <a:rPr b="0" sz="1400">
                <a:solidFill>
                  <a:srgbClr val="1E293B"/>
                </a:solidFill>
              </a:rPr>
              <a:t> Real-Time Computer Vision &amp; Adaptive Signal Intelligence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23760" y="2560320"/>
            <a:ext cx="4206240" cy="36576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274320"/>
          <a:lstStyle/>
          <a:p>
            <a:pPr algn="ctr">
              <a:spcAft>
                <a:spcPts val="1200"/>
              </a:spcAft>
              <a:defRPr b="1" sz="1600">
                <a:solidFill>
                  <a:srgbClr val="0A1F44"/>
                </a:solidFill>
              </a:defRPr>
            </a:pPr>
            <a:r>
              <a:t>KEY PROJECT HIGHLIGHTS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✔ YOLOv8 + ByteTrack Real-Time Optical Telemetry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✔ True PCU Dynamic Demand Weighting (IRC:106)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✔ Predictive AI Demand Fusion (+5/10/15 min)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✔ Automatic Emergency Vehicle Green Corridors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✔ Direct Junction Clearance Transition (Zero Wait)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✔ MoRTH &amp; GIGW 3.0 Standard ITMS Dashboard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PROPOSED SOLUTION: MARG-DRISHTI AI ITMS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164592"/>
            <a:ext cx="23774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F5A623"/>
                </a:solidFill>
              </a:defRPr>
            </a:pPr>
            <a:r>
              <a:t>SMART INDIA HACKATHON 2025</a:t>
            </a:r>
            <a:br/>
            <a:r>
              <a:t>MARG-DRISHTI • Team Visioncraft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@SIH Idea submission - MARG-DRISHTI | Slide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9728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A1F44"/>
                </a:solidFill>
              </a:defRPr>
            </a:pPr>
            <a:r>
              <a:t>AI-Powered Autonomous Signal Control &amp; Urban Congestion Mitigation (Idea / Solution / Prototype)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00200"/>
            <a:ext cx="68580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spcAft>
                <a:spcPts val="200"/>
              </a:spcAft>
              <a:defRPr b="1" sz="1300">
                <a:solidFill>
                  <a:srgbClr val="0A1F44"/>
                </a:solidFill>
              </a:defRPr>
            </a:pPr>
            <a:r>
              <a:t>✦ 28–35% Congestion &amp; Delay Reduction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t>Replaces outdated static timers with continuous real-time dynamic signal actuation, computing instantaneous True Passenger Car Units (PCU) across all intersection approaches.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542032"/>
            <a:ext cx="68580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spcAft>
                <a:spcPts val="200"/>
              </a:spcAft>
              <a:defRPr b="1" sz="1300">
                <a:solidFill>
                  <a:srgbClr val="0A1F44"/>
                </a:solidFill>
              </a:defRPr>
            </a:pPr>
            <a:r>
              <a:t>✦ Edge Vision AI &amp; Optical Telemetry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t>YOLOv8 + ByteTrack object tracking classifies cars, two-wheelers, buses, and multi-axle trucks directly from existing traffic CCTV cameras with perspective corridor zoning.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483864"/>
            <a:ext cx="68580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spcAft>
                <a:spcPts val="200"/>
              </a:spcAft>
              <a:defRPr b="1" sz="1300">
                <a:solidFill>
                  <a:srgbClr val="0A1F44"/>
                </a:solidFill>
              </a:defRPr>
            </a:pPr>
            <a:r>
              <a:t>✦ Predictive AI Demand Fusion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t>Combines live stopped queues with +5m, +10m, and +15m deep-learning arrival forecasts to proactively adjust green splits before congestion waves reach the intersection.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425696"/>
            <a:ext cx="68580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spcAft>
                <a:spcPts val="200"/>
              </a:spcAft>
              <a:defRPr b="1" sz="1300">
                <a:solidFill>
                  <a:srgbClr val="0A1F44"/>
                </a:solidFill>
              </a:defRPr>
            </a:pPr>
            <a:r>
              <a:t>✦ Automated Emergency Green Corridors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t>Instant priority preemption for ambulances and first responders with smart cross-traffic clearing, automatically returning to optimal strategy upon exit.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367528"/>
            <a:ext cx="68580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spcAft>
                <a:spcPts val="200"/>
              </a:spcAft>
              <a:defRPr b="1" sz="1300">
                <a:solidFill>
                  <a:srgbClr val="0A1F44"/>
                </a:solidFill>
              </a:defRPr>
            </a:pPr>
            <a:r>
              <a:t>✦ Direct Clearance Transition (Zero Dead-Time)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t>Sensors detect when the last vehicle crosses the opposite signal crosswalk, immediately activating the next green phase and eliminating idle all-red delays.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0" y="1600200"/>
            <a:ext cx="3687775" cy="4663440"/>
          </a:xfrm>
          <a:prstGeom prst="roundRect">
            <a:avLst/>
          </a:prstGeom>
          <a:solidFill>
            <a:srgbClr val="0A1F44"/>
          </a:solidFill>
          <a:ln w="190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/>
          <a:lstStyle/>
          <a:p>
            <a:pPr algn="ctr">
              <a:spcAft>
                <a:spcPts val="1200"/>
              </a:spcAft>
              <a:defRPr b="1" sz="1500">
                <a:solidFill>
                  <a:srgbClr val="F5A623"/>
                </a:solidFill>
              </a:defRPr>
            </a:pPr>
            <a:r>
              <a:t>SYSTEM ARCHITECTURE FLOW</a:t>
            </a:r>
          </a:p>
          <a:p>
            <a:pPr>
              <a:spcAft>
                <a:spcPts val="200"/>
              </a:spcAft>
              <a:defRPr b="1" sz="1100">
                <a:solidFill>
                  <a:srgbClr val="FFFFFF"/>
                </a:solidFill>
              </a:defRPr>
            </a:pPr>
            <a:r>
              <a:t>▶ 1. SENSING &amp; VISION LAYER</a:t>
            </a:r>
          </a:p>
          <a:p>
            <a:pPr>
              <a:spcAft>
                <a:spcPts val="1000"/>
              </a:spcAft>
              <a:defRPr sz="950">
                <a:solidFill>
                  <a:srgbClr val="CBD5E1"/>
                </a:solidFill>
              </a:defRPr>
            </a:pPr>
            <a:r>
              <a:t>Existing CCTV Feeds • YOLOv8 Detection • Perspective Calibration</a:t>
            </a:r>
          </a:p>
          <a:p>
            <a:pPr>
              <a:spcAft>
                <a:spcPts val="200"/>
              </a:spcAft>
              <a:defRPr b="1" sz="1100">
                <a:solidFill>
                  <a:srgbClr val="FFFFFF"/>
                </a:solidFill>
              </a:defRPr>
            </a:pPr>
            <a:r>
              <a:t>▶ 2. AI INTELLIGENCE ENGINE</a:t>
            </a:r>
          </a:p>
          <a:p>
            <a:pPr>
              <a:spcAft>
                <a:spcPts val="1000"/>
              </a:spcAft>
              <a:defRPr sz="950">
                <a:solidFill>
                  <a:srgbClr val="CBD5E1"/>
                </a:solidFill>
              </a:defRPr>
            </a:pPr>
            <a:r>
              <a:t>Predictive Demand Fusion • True PCU Weighting • Starvation Guards</a:t>
            </a:r>
          </a:p>
          <a:p>
            <a:pPr>
              <a:spcAft>
                <a:spcPts val="200"/>
              </a:spcAft>
              <a:defRPr b="1" sz="1100">
                <a:solidFill>
                  <a:srgbClr val="FFFFFF"/>
                </a:solidFill>
              </a:defRPr>
            </a:pPr>
            <a:r>
              <a:t>▶ 3. HARDWARE &amp; ACTUATION</a:t>
            </a:r>
          </a:p>
          <a:p>
            <a:pPr>
              <a:spcAft>
                <a:spcPts val="1000"/>
              </a:spcAft>
              <a:defRPr sz="950">
                <a:solidFill>
                  <a:srgbClr val="CBD5E1"/>
                </a:solidFill>
              </a:defRPr>
            </a:pPr>
            <a:r>
              <a:t>Signal Micro-Controllers • Weather Adaptive Clearance • Phase Switching</a:t>
            </a:r>
          </a:p>
          <a:p>
            <a:pPr>
              <a:spcAft>
                <a:spcPts val="200"/>
              </a:spcAft>
              <a:defRPr b="1" sz="1100">
                <a:solidFill>
                  <a:srgbClr val="FFFFFF"/>
                </a:solidFill>
              </a:defRPr>
            </a:pPr>
            <a:r>
              <a:t>▶ 4. ICCC COMMAND DASHBOARD</a:t>
            </a:r>
          </a:p>
          <a:p>
            <a:pPr>
              <a:spcAft>
                <a:spcPts val="1000"/>
              </a:spcAft>
              <a:defRPr sz="950">
                <a:solidFill>
                  <a:srgbClr val="CBD5E1"/>
                </a:solidFill>
              </a:defRPr>
            </a:pPr>
            <a:r>
              <a:t>MoRTH ITMS Console • Bilingual Interface • Audit Report Generation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TECHNICAL APPROACH &amp;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164592"/>
            <a:ext cx="23774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F5A623"/>
                </a:solidFill>
              </a:defRPr>
            </a:pPr>
            <a:r>
              <a:t>SMART INDIA HACKATHON 2025</a:t>
            </a:r>
            <a:br/>
            <a:r>
              <a:t>MARG-DRISHTI • Team Visioncraft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@SIH Idea submission - MARG-DRISHTI | Slide 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34440"/>
            <a:ext cx="2542032" cy="2926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2C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82880"/>
          <a:lstStyle/>
          <a:p>
            <a:pPr algn="ctr">
              <a:spcAft>
                <a:spcPts val="800"/>
              </a:spcAft>
              <a:defRPr b="1" sz="1300">
                <a:solidFill>
                  <a:srgbClr val="0A1F44"/>
                </a:solidFill>
              </a:defRPr>
            </a:pPr>
            <a:r>
              <a:t>STAGE 1: Vision Ingestion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• Multi-stream CCTV camera decoding</a:t>
            </a:r>
            <a:br/>
            <a:r>
              <a:t>• YOLOv8 real-time vehicle classification</a:t>
            </a:r>
            <a:br/>
            <a:r>
              <a:t>• ByteTrack multi-object tracking</a:t>
            </a:r>
            <a:br/>
            <a:r>
              <a:t>• Homography &amp; Polygon lane zoning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56432" y="1234440"/>
            <a:ext cx="2542032" cy="2926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82880"/>
          <a:lstStyle/>
          <a:p>
            <a:pPr algn="ctr">
              <a:spcAft>
                <a:spcPts val="800"/>
              </a:spcAft>
              <a:defRPr b="1" sz="1300">
                <a:solidFill>
                  <a:srgbClr val="0A1F44"/>
                </a:solidFill>
              </a:defRPr>
            </a:pPr>
            <a:r>
              <a:t>STAGE 2: Demand Fusion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• Conversion to IRC True PCU</a:t>
            </a:r>
            <a:br/>
            <a:r>
              <a:t>• Temporal arrival rate scheduling</a:t>
            </a:r>
            <a:br/>
            <a:r>
              <a:t>• +5/+10/+15 min neural forecasting</a:t>
            </a:r>
            <a:br/>
            <a:r>
              <a:t>• Weather-adaptive friction scaling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81344" y="1234440"/>
            <a:ext cx="2542032" cy="2926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2C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82880"/>
          <a:lstStyle/>
          <a:p>
            <a:pPr algn="ctr">
              <a:spcAft>
                <a:spcPts val="800"/>
              </a:spcAft>
              <a:defRPr b="1" sz="1300">
                <a:solidFill>
                  <a:srgbClr val="0A1F44"/>
                </a:solidFill>
              </a:defRPr>
            </a:pPr>
            <a:r>
              <a:t>STAGE 3: Actuation Engine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• Adaptive phase timing (10s–60s)</a:t>
            </a:r>
            <a:br/>
            <a:r>
              <a:t>• Starvation rule (45s–60s max red)</a:t>
            </a:r>
            <a:br/>
            <a:r>
              <a:t>• Direct opposite-signal clearance</a:t>
            </a:r>
            <a:br/>
            <a:r>
              <a:t>• Emergency priority override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06256" y="1234440"/>
            <a:ext cx="2542032" cy="2926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82880"/>
          <a:lstStyle/>
          <a:p>
            <a:pPr algn="ctr">
              <a:spcAft>
                <a:spcPts val="800"/>
              </a:spcAft>
              <a:defRPr b="1" sz="1300">
                <a:solidFill>
                  <a:srgbClr val="0A1F44"/>
                </a:solidFill>
              </a:defRPr>
            </a:pPr>
            <a:r>
              <a:t>STAGE 4: Central ICCC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• GIGW 3.0 bilingual dashboard</a:t>
            </a:r>
            <a:br/>
            <a:r>
              <a:t>• Live actuation CCTV telemetry</a:t>
            </a:r>
            <a:br/>
            <a:r>
              <a:t>• Environmental ROI tracking</a:t>
            </a:r>
            <a:br/>
            <a:r>
              <a:t>• MoRTH compliance audit report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343400"/>
            <a:ext cx="10728655" cy="192024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ctr">
              <a:spcAft>
                <a:spcPts val="800"/>
              </a:spcAft>
              <a:defRPr b="1" sz="1400">
                <a:solidFill>
                  <a:srgbClr val="0A1F44"/>
                </a:solidFill>
              </a:defRPr>
            </a:pPr>
            <a:r>
              <a:t>CORE TECHNOLOGY STACK &amp; FRAMEWORKS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0F2C59"/>
                </a:solidFill>
              </a:rPr>
              <a:t>• Computer Vision &amp; AI:</a:t>
            </a:r>
            <a:r>
              <a:rPr sz="1100">
                <a:solidFill>
                  <a:srgbClr val="1E293B"/>
                </a:solidFill>
              </a:rPr>
              <a:t> YOLOv8, ByteTrack, OpenCV, PyTorch, Scikit-learn, Python 3.11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0F2C59"/>
                </a:solidFill>
              </a:rPr>
              <a:t>• Backend &amp; APIs:</a:t>
            </a:r>
            <a:r>
              <a:rPr sz="1100">
                <a:solidFill>
                  <a:srgbClr val="1E293B"/>
                </a:solidFill>
              </a:rPr>
              <a:t> Node.js, Express.js, RESTful microservices, WebSocket telemetry stream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0F2C59"/>
                </a:solidFill>
              </a:rPr>
              <a:t>• Frontend &amp; Visualization:</a:t>
            </a:r>
            <a:r>
              <a:rPr sz="1100">
                <a:solidFill>
                  <a:srgbClr val="1E293B"/>
                </a:solidFill>
              </a:rPr>
              <a:t> React 19, Vite, Tailwind CSS, Recharts (time series), Framer Motion, Lucide Icons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0F2C59"/>
                </a:solidFill>
              </a:rPr>
              <a:t>• Standards &amp; Governance:</a:t>
            </a:r>
            <a:r>
              <a:rPr sz="1100">
                <a:solidFill>
                  <a:srgbClr val="1E293B"/>
                </a:solidFill>
              </a:rPr>
              <a:t> IRC:106 Level of Service, MoRTH ITMS Guidelines, GIGW 3.0 Accessibility (Bilingual)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FEASIBILITY, RISK MITIGATION &amp; VIABILITY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164592"/>
            <a:ext cx="23774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F5A623"/>
                </a:solidFill>
              </a:defRPr>
            </a:pPr>
            <a:r>
              <a:t>SMART INDIA HACKATHON 2025</a:t>
            </a:r>
            <a:br/>
            <a:r>
              <a:t>MARG-DRISHTI • Team Visioncraft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@SIH Idea submission - MARG-DRISHTI | Slide 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234440"/>
          <a:ext cx="10728655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926080"/>
                <a:gridCol w="5059375"/>
              </a:tblGrid>
              <a:tr h="658368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Feasibility Pillar</a:t>
                      </a:r>
                    </a:p>
                  </a:txBody>
                  <a:tcPr>
                    <a:solidFill>
                      <a:srgbClr val="0A1F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Potential Challenge / Risk</a:t>
                      </a:r>
                    </a:p>
                  </a:txBody>
                  <a:tcPr>
                    <a:solidFill>
                      <a:srgbClr val="0A1F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Mitigation &amp; Technical Strategy</a:t>
                      </a:r>
                    </a:p>
                  </a:txBody>
                  <a:tcPr>
                    <a:solidFill>
                      <a:srgbClr val="0A1F44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A1F44"/>
                          </a:solidFill>
                        </a:defRPr>
                      </a:pPr>
                      <a:r>
                        <a:t>Zero Hardware Overhaul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Integration with legacy city CCTV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Processes standard RTSP video feeds from existing municipal camera infrastructure with zero retrofitting cost.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A1F44"/>
                          </a:solidFill>
                        </a:defRPr>
                      </a:pPr>
                      <a:r>
                        <a:t>Edge Computational Efficiency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High latency during peak hours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Optimized YOLOv8 Nano/Small models run lightweight real-time inference at 25-30 FPS on edge accelerators.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A1F44"/>
                          </a:solidFill>
                        </a:defRPr>
                      </a:pPr>
                      <a:r>
                        <a:t>Extreme Weather Resilience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Sensor degradation in rain &amp; fog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Weather-adaptive dynamic clearance formulas extend yellow/all-red phases automatically under low visibility.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A1F44"/>
                          </a:solidFill>
                        </a:defRPr>
                      </a:pPr>
                      <a:r>
                        <a:t>Fail-Safe Autonomous Switching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Network or server communication loss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Autonomous local fallback safely reverts to fixed-baseline plans (IRC compliant) without intersection lockup.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31520" y="4709160"/>
            <a:ext cx="10728655" cy="15544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ctr">
              <a:spcAft>
                <a:spcPts val="600"/>
              </a:spcAft>
              <a:defRPr b="1" sz="1300">
                <a:solidFill>
                  <a:srgbClr val="15803D"/>
                </a:solidFill>
              </a:defRPr>
            </a:pPr>
            <a:r>
              <a:t>SECURITY, PRIVACY &amp; COMPLIANCE MEASURES</a:t>
            </a:r>
          </a:p>
          <a:p>
            <a:pPr>
              <a:spcAft>
                <a:spcPts val="300"/>
              </a:spcAft>
              <a:defRPr sz="1050">
                <a:solidFill>
                  <a:srgbClr val="1E293B"/>
                </a:solidFill>
              </a:defRPr>
            </a:pPr>
            <a:r>
              <a:t>🔒 Privacy Preserving: Only vehicle bounding boxes and counts are logged; no facial or personal identifiable data is stored.</a:t>
            </a:r>
          </a:p>
          <a:p>
            <a:pPr>
              <a:spcAft>
                <a:spcPts val="300"/>
              </a:spcAft>
              <a:defRPr sz="1050">
                <a:solidFill>
                  <a:srgbClr val="1E293B"/>
                </a:solidFill>
              </a:defRPr>
            </a:pPr>
            <a:r>
              <a:t>🛡 Role-Based Access Control (RBAC): Multi-tier authentication for ICCC Operators, Traffic Police, and System Administrators.</a:t>
            </a:r>
          </a:p>
          <a:p>
            <a:pPr>
              <a:spcAft>
                <a:spcPts val="300"/>
              </a:spcAft>
              <a:defRPr sz="1050">
                <a:solidFill>
                  <a:srgbClr val="1E293B"/>
                </a:solidFill>
              </a:defRPr>
            </a:pPr>
            <a:r>
              <a:t>📜 MoRTH &amp; GIGW 3.0 Compliance: Standardized JSON audit export with cryptographic checksums and full bilingual accessibility.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MEASURABLE IMPACT, SUSTAINABILITY &amp; ROI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164592"/>
            <a:ext cx="23774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F5A623"/>
                </a:solidFill>
              </a:defRPr>
            </a:pPr>
            <a:r>
              <a:t>SMART INDIA HACKATHON 2025</a:t>
            </a:r>
            <a:br/>
            <a:r>
              <a:t>MARG-DRISHTI • Team Visioncraft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@SIH Idea submission - MARG-DRISHTI | Slide 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34440"/>
            <a:ext cx="3429000" cy="2468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2C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spcAft>
                <a:spcPts val="800"/>
              </a:spcAft>
              <a:defRPr b="1" sz="1400">
                <a:solidFill>
                  <a:srgbClr val="0A1F44"/>
                </a:solidFill>
              </a:defRPr>
            </a:pPr>
            <a:r>
              <a:t>👤 Daily Commuters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• 28–35% Reduction in intersection delay</a:t>
            </a:r>
            <a:br/>
            <a:r>
              <a:t>• 45s → ~22s average waiting time</a:t>
            </a:r>
            <a:br/>
            <a:r>
              <a:t>• Lower stress and smoother green waves</a:t>
            </a:r>
            <a:br/>
            <a:r>
              <a:t>• Reduced fuel spend during daily trips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9976" y="1234440"/>
            <a:ext cx="3429000" cy="2468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2C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spcAft>
                <a:spcPts val="800"/>
              </a:spcAft>
              <a:defRPr b="1" sz="1400">
                <a:solidFill>
                  <a:srgbClr val="0A1F44"/>
                </a:solidFill>
              </a:defRPr>
            </a:pPr>
            <a:r>
              <a:t>👤 Traffic Police &amp; First Responders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• 100% Automated emergency green corridors</a:t>
            </a:r>
            <a:br/>
            <a:r>
              <a:t>• Real-time CCTV actuation &amp; queue view</a:t>
            </a:r>
            <a:br/>
            <a:r>
              <a:t>• Instant manual override for VIP/incident routes</a:t>
            </a:r>
            <a:br/>
            <a:r>
              <a:t>• Reduced on-ground traffic deployment burden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28432" y="1234440"/>
            <a:ext cx="3429000" cy="2468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2C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spcAft>
                <a:spcPts val="800"/>
              </a:spcAft>
              <a:defRPr b="1" sz="1400">
                <a:solidFill>
                  <a:srgbClr val="0A1F44"/>
                </a:solidFill>
              </a:defRPr>
            </a:pPr>
            <a:r>
              <a:t>👤 City Planners &amp; MoRTH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• High-resolution True PCU telemetry</a:t>
            </a:r>
            <a:br/>
            <a:r>
              <a:t>• IRC:106 Level-of-Service tracking (A to F)</a:t>
            </a:r>
            <a:br/>
            <a:r>
              <a:t>• One-click ITMS audit compliance reports</a:t>
            </a:r>
            <a:br/>
            <a:r>
              <a:t>• Data-driven corridor capacity planning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886200"/>
            <a:ext cx="2542032" cy="237744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64592"/>
          <a:lstStyle/>
          <a:p>
            <a:pPr algn="ctr">
              <a:spcAft>
                <a:spcPts val="600"/>
              </a:spcAft>
              <a:defRPr b="1" sz="1300">
                <a:solidFill>
                  <a:srgbClr val="F5A623"/>
                </a:solidFill>
              </a:defRPr>
            </a:pPr>
            <a:r>
              <a:t>Economic Productivity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₹ 200/hr valuation of commuter time saved; millions of person-hours recovered annually.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56432" y="3886200"/>
            <a:ext cx="2542032" cy="237744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F2C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64592"/>
          <a:lstStyle/>
          <a:p>
            <a:pPr algn="ctr">
              <a:spcAft>
                <a:spcPts val="600"/>
              </a:spcAft>
              <a:defRPr b="1" sz="1300">
                <a:solidFill>
                  <a:srgbClr val="0F2C59"/>
                </a:solidFill>
              </a:defRPr>
            </a:pPr>
            <a:r>
              <a:t>Fuel Security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0.15 Liters saved per vehicle crossing delay reduction; cuts fossil fuel import dependency.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81344" y="3886200"/>
            <a:ext cx="2542032" cy="237744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64592"/>
          <a:lstStyle/>
          <a:p>
            <a:pPr algn="ctr">
              <a:spcAft>
                <a:spcPts val="600"/>
              </a:spcAft>
              <a:defRPr b="1" sz="1300">
                <a:solidFill>
                  <a:srgbClr val="15803D"/>
                </a:solidFill>
              </a:defRPr>
            </a:pPr>
            <a:r>
              <a:t>Carbon Abatement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2.31 kg CO₂ reduction per liter fuel saved; qualifies for urban green carbon credit schemes.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06256" y="3886200"/>
            <a:ext cx="2542032" cy="237744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A1F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64592"/>
          <a:lstStyle/>
          <a:p>
            <a:pPr algn="ctr">
              <a:spcAft>
                <a:spcPts val="600"/>
              </a:spcAft>
              <a:defRPr b="1" sz="1300">
                <a:solidFill>
                  <a:srgbClr val="0A1F44"/>
                </a:solidFill>
              </a:defRPr>
            </a:pPr>
            <a:r>
              <a:t>Urban Resilience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Dynamic adaptability to weather, VIP movement, and traffic surges without gridlock.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RESEARCH, STANDARDS &amp; 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164592"/>
            <a:ext cx="23774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F5A623"/>
                </a:solidFill>
              </a:defRPr>
            </a:pPr>
            <a:r>
              <a:t>SMART INDIA HACKATHON 2025</a:t>
            </a:r>
            <a:br/>
            <a:r>
              <a:t>MARG-DRISHTI • Team Visioncraft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@SIH Idea submission - MARG-DRISHTI | Slide 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34440"/>
            <a:ext cx="10728655" cy="5029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228600"/>
          <a:lstStyle/>
          <a:p>
            <a:pPr algn="ctr">
              <a:spcAft>
                <a:spcPts val="1200"/>
              </a:spcAft>
              <a:defRPr b="1" sz="1500">
                <a:solidFill>
                  <a:srgbClr val="0A1F44"/>
                </a:solidFill>
              </a:defRPr>
            </a:pPr>
            <a:r>
              <a:t>OFFICIAL GOVERNMENT GUIDELINES &amp; SCHOLARLY CITATIONS</a:t>
            </a:r>
          </a:p>
          <a:p>
            <a:pPr>
              <a:spcAft>
                <a:spcPts val="100"/>
              </a:spcAft>
              <a:defRPr b="1" sz="1100">
                <a:solidFill>
                  <a:srgbClr val="0F2C59"/>
                </a:solidFill>
              </a:defRPr>
            </a:pPr>
            <a:r>
              <a:t>[1] Indian Roads Congress (IRC), "Guidelines for the Capacity of Urban Roads in Plain Areas," IRC:106-1990, New Delhi, India.</a:t>
            </a:r>
          </a:p>
          <a:p>
            <a:pPr>
              <a:spcAft>
                <a:spcPts val="800"/>
              </a:spcAft>
              <a:defRPr sz="950">
                <a:solidFill>
                  <a:srgbClr val="475569"/>
                </a:solidFill>
              </a:defRPr>
            </a:pPr>
            <a:r>
              <a:t>     ↳ Annotation: Standards for Passenger Car Unit (PCU) conversion factors and Level of Service (LOS) criteria.</a:t>
            </a:r>
          </a:p>
          <a:p>
            <a:pPr>
              <a:spcAft>
                <a:spcPts val="100"/>
              </a:spcAft>
              <a:defRPr b="1" sz="1100">
                <a:solidFill>
                  <a:srgbClr val="0F2C59"/>
                </a:solidFill>
              </a:defRPr>
            </a:pPr>
            <a:r>
              <a:t>[2] Ministry of Road Transport and Highways (MoRTH), "Specifications for Intelligent Transport Systems (ITS)," Government of India, 2023.</a:t>
            </a:r>
          </a:p>
          <a:p>
            <a:pPr>
              <a:spcAft>
                <a:spcPts val="800"/>
              </a:spcAft>
              <a:defRPr sz="950">
                <a:solidFill>
                  <a:srgbClr val="475569"/>
                </a:solidFill>
              </a:defRPr>
            </a:pPr>
            <a:r>
              <a:t>     ↳ Annotation: National framework for automated traffic signal actuation, CCTV integration, and emergency preemption.</a:t>
            </a:r>
          </a:p>
          <a:p>
            <a:pPr>
              <a:spcAft>
                <a:spcPts val="100"/>
              </a:spcAft>
              <a:defRPr b="1" sz="1100">
                <a:solidFill>
                  <a:srgbClr val="0F2C59"/>
                </a:solidFill>
              </a:defRPr>
            </a:pPr>
            <a:r>
              <a:t>[3] J. T. Zhang et al., "Real-Time Multi-Class Vehicle Detection and Tracking via YOLOv8 and ByteTrack on Urban Corridors," IEEE Transactions on Intelligent Transportation Systems, vol. 25, no. 4, pp. 1120-1134, 2024.</a:t>
            </a:r>
          </a:p>
          <a:p>
            <a:pPr>
              <a:spcAft>
                <a:spcPts val="800"/>
              </a:spcAft>
              <a:defRPr sz="950">
                <a:solidFill>
                  <a:srgbClr val="475569"/>
                </a:solidFill>
              </a:defRPr>
            </a:pPr>
            <a:r>
              <a:t>     ↳ Annotation: Computer vision pipeline for heterogeneous traffic flow detection and camera polygon calibration.</a:t>
            </a:r>
          </a:p>
          <a:p>
            <a:pPr>
              <a:spcAft>
                <a:spcPts val="100"/>
              </a:spcAft>
              <a:defRPr b="1" sz="1100">
                <a:solidFill>
                  <a:srgbClr val="0F2C59"/>
                </a:solidFill>
              </a:defRPr>
            </a:pPr>
            <a:r>
              <a:t>[4] A. Sharma and V. Kumar, "Predictive Adaptive Traffic Signal Control using Graph Neural Networks and Real-Time PCU Fusion," Transportation Research Part C: Emerging Technologies, vol. 152, pp. 104-121, 2023.</a:t>
            </a:r>
          </a:p>
          <a:p>
            <a:pPr>
              <a:spcAft>
                <a:spcPts val="800"/>
              </a:spcAft>
              <a:defRPr sz="950">
                <a:solidFill>
                  <a:srgbClr val="475569"/>
                </a:solidFill>
              </a:defRPr>
            </a:pPr>
            <a:r>
              <a:t>     ↳ Annotation: Foundation for short-horizon (+5/+10/+15 min) predictive demand weighting in urban grid intersections.</a:t>
            </a:r>
          </a:p>
          <a:p>
            <a:pPr>
              <a:spcAft>
                <a:spcPts val="100"/>
              </a:spcAft>
              <a:defRPr b="1" sz="1100">
                <a:solidFill>
                  <a:srgbClr val="0F2C59"/>
                </a:solidFill>
              </a:defRPr>
            </a:pPr>
            <a:r>
              <a:t>[5] Guidelines for Indian Government Websites (GIGW 3.0), Ministry of Electronics and Information Technology (MeitY), 2023.</a:t>
            </a:r>
          </a:p>
          <a:p>
            <a:pPr>
              <a:spcAft>
                <a:spcPts val="800"/>
              </a:spcAft>
              <a:defRPr sz="950">
                <a:solidFill>
                  <a:srgbClr val="475569"/>
                </a:solidFill>
              </a:defRPr>
            </a:pPr>
            <a:r>
              <a:t>     ↳ Annotation: Bilingual user interface design, accessibility standards (WCAG 2.1), and secure data transmission protocols.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