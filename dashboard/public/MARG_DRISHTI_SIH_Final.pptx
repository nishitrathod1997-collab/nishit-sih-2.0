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65D"/>
                </a:solidFill>
              </a:defRPr>
            </a:pPr>
            <a:r>
              <a:t>SMART INDIA HACKATHON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228600"/>
            <a:ext cx="2011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</a:defRPr>
            </a:pPr>
            <a:r>
              <a:t>💡 SMART INDIA</a:t>
            </a:r>
            <a:br/>
            <a:r>
              <a:t>HACKATHON</a:t>
            </a:r>
            <a:br/>
            <a:r>
              <a:t>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b="1" sz="1500">
                <a:solidFill>
                  <a:srgbClr val="000000"/>
                </a:solidFill>
              </a:rPr>
              <a:t>• Problem Statement ID –</a:t>
            </a:r>
            <a:r>
              <a:rPr b="0" sz="1500">
                <a:solidFill>
                  <a:srgbClr val="000000"/>
                </a:solidFill>
              </a:rPr>
              <a:t> 25050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000000"/>
                </a:solidFill>
              </a:rPr>
              <a:t>• Problem Statement Title-</a:t>
            </a:r>
            <a:r>
              <a:rPr b="1" sz="1500">
                <a:solidFill>
                  <a:srgbClr val="1B365D"/>
                </a:solidFill>
              </a:rPr>
              <a:t> Smart Traffic Management System for Urban Congestion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000000"/>
                </a:solidFill>
              </a:rPr>
              <a:t>• Project Name-</a:t>
            </a:r>
            <a:r>
              <a:rPr b="1" sz="1500">
                <a:solidFill>
                  <a:srgbClr val="1B365D"/>
                </a:solidFill>
              </a:rPr>
              <a:t> MARG-DRISHTI (मार्ग-दृष्टि) AI ITMS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000000"/>
                </a:solidFill>
              </a:rPr>
              <a:t>• Theme-</a:t>
            </a:r>
            <a:r>
              <a:rPr b="0" sz="1500">
                <a:solidFill>
                  <a:srgbClr val="000000"/>
                </a:solidFill>
              </a:rPr>
              <a:t> Transportation &amp; Logistics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000000"/>
                </a:solidFill>
              </a:rPr>
              <a:t>• PS Category-</a:t>
            </a:r>
            <a:r>
              <a:rPr b="0" sz="1500">
                <a:solidFill>
                  <a:srgbClr val="000000"/>
                </a:solidFill>
              </a:rPr>
              <a:t> Software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000000"/>
                </a:solidFill>
              </a:rPr>
              <a:t>• Team ID-</a:t>
            </a:r>
            <a:r>
              <a:rPr b="0" sz="1500">
                <a:solidFill>
                  <a:srgbClr val="000000"/>
                </a:solidFill>
              </a:rPr>
              <a:t> SIH2025183</a:t>
            </a:r>
          </a:p>
          <a:p>
            <a:pPr>
              <a:spcAft>
                <a:spcPts val="1500"/>
              </a:spcAft>
            </a:pPr>
            <a:r>
              <a:rPr b="1" sz="1500">
                <a:solidFill>
                  <a:srgbClr val="000000"/>
                </a:solidFill>
              </a:rPr>
              <a:t>• Team Name:</a:t>
            </a:r>
            <a:r>
              <a:rPr b="0" sz="1500">
                <a:solidFill>
                  <a:srgbClr val="000000"/>
                </a:solidFill>
              </a:rPr>
              <a:t> Visioncraft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554480"/>
            <a:ext cx="40233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spcAft>
                <a:spcPts val="1400"/>
              </a:spcAft>
              <a:defRPr b="1" sz="1600">
                <a:solidFill>
                  <a:srgbClr val="1B365D"/>
                </a:solidFill>
              </a:defRPr>
            </a:pPr>
            <a:r>
              <a:t>💡 SIH 2025 • MARG-DRISHTI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010101010 (Optical AI Grid)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📹 YOLOv8 + ByteTrack Telemetry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⚖ True PCU IRC:106 Demand Weighting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🧠 Predictive Neural Demand Fusion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🚑 Autonomous Emergency Corridors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⚡ Direct Opposite-Signal Clearance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👁 VISIONCRAFT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</a:defRPr>
            </a:pPr>
            <a:r>
              <a:t>💡 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Smart Traffic Flow Management:</a:t>
            </a:r>
            <a:br/>
            <a:r>
              <a:t>A Solution to Urban Congestion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 u="sng">
                <a:solidFill>
                  <a:srgbClr val="1B559B"/>
                </a:solidFill>
              </a:defRPr>
            </a:pPr>
            <a:r>
              <a:t>Proposed Solution (Describe your Idea/Solution/Prototype)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7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27648"/>
            <a:ext cx="8229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6217920" cy="841248"/>
          </a:xfrm>
          <a:prstGeom prst="roundRect">
            <a:avLst/>
          </a:prstGeom>
          <a:solidFill>
            <a:srgbClr val="E4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/>
            <a:r>
              <a:rPr sz="1100">
                <a:solidFill>
                  <a:srgbClr val="000000"/>
                </a:solidFill>
              </a:rPr>
              <a:t>Aimed at </a:t>
            </a:r>
            <a:r>
              <a:rPr sz="1100" b="1">
                <a:solidFill>
                  <a:srgbClr val="E11D48"/>
                </a:solidFill>
              </a:rPr>
              <a:t>reducing urban traffic congestion</a:t>
            </a:r>
            <a:r>
              <a:rPr sz="1100">
                <a:solidFill>
                  <a:srgbClr val="000000"/>
                </a:solidFill>
              </a:rPr>
              <a:t> by </a:t>
            </a:r>
            <a:r>
              <a:rPr sz="1100" b="1">
                <a:solidFill>
                  <a:srgbClr val="E11D48"/>
                </a:solidFill>
              </a:rPr>
              <a:t>reduce average commute time &amp; congestion by up to 28–35%</a:t>
            </a:r>
            <a:r>
              <a:rPr sz="1100">
                <a:solidFill>
                  <a:srgbClr val="000000"/>
                </a:solidFill>
              </a:rPr>
              <a:t>, our solution uses dynamic real-time vision demand actuation.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68296"/>
            <a:ext cx="6217920" cy="841248"/>
          </a:xfrm>
          <a:prstGeom prst="roundRect">
            <a:avLst/>
          </a:prstGeom>
          <a:solidFill>
            <a:srgbClr val="E4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/>
            <a:r>
              <a:rPr sz="1100">
                <a:solidFill>
                  <a:srgbClr val="000000"/>
                </a:solidFill>
              </a:rPr>
              <a:t>Uses an </a:t>
            </a:r>
            <a:r>
              <a:rPr sz="1100" b="1">
                <a:solidFill>
                  <a:srgbClr val="E11D48"/>
                </a:solidFill>
              </a:rPr>
              <a:t>adaptive reinforcement &amp; predictive fusion algorithm</a:t>
            </a:r>
            <a:r>
              <a:rPr sz="1100">
                <a:solidFill>
                  <a:srgbClr val="000000"/>
                </a:solidFill>
              </a:rPr>
              <a:t> to optimize signal timings in real-time, </a:t>
            </a:r>
            <a:r>
              <a:rPr sz="1100" b="1">
                <a:solidFill>
                  <a:srgbClr val="E11D48"/>
                </a:solidFill>
              </a:rPr>
              <a:t>minimizing wait time and maximizing throughput</a:t>
            </a:r>
            <a:r>
              <a:rPr sz="11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19272"/>
            <a:ext cx="6217920" cy="841248"/>
          </a:xfrm>
          <a:prstGeom prst="roundRect">
            <a:avLst/>
          </a:prstGeom>
          <a:solidFill>
            <a:srgbClr val="E4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/>
            <a:r>
              <a:rPr sz="1100">
                <a:solidFill>
                  <a:srgbClr val="000000"/>
                </a:solidFill>
              </a:rPr>
              <a:t>A live intersection simulation with </a:t>
            </a:r>
            <a:r>
              <a:rPr sz="1100" b="1">
                <a:solidFill>
                  <a:srgbClr val="E11D48"/>
                </a:solidFill>
              </a:rPr>
              <a:t>YOLOv8 optical CCTV sensors and multi-class classification</a:t>
            </a:r>
            <a:r>
              <a:rPr sz="1100">
                <a:solidFill>
                  <a:srgbClr val="000000"/>
                </a:solidFill>
              </a:rPr>
              <a:t> demonstrates the AI's decisions in the real world, providing undeniable proof of concept.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70248"/>
            <a:ext cx="6217920" cy="841248"/>
          </a:xfrm>
          <a:prstGeom prst="roundRect">
            <a:avLst/>
          </a:prstGeom>
          <a:solidFill>
            <a:srgbClr val="E4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/>
            <a:r>
              <a:rPr sz="1100">
                <a:solidFill>
                  <a:srgbClr val="000000"/>
                </a:solidFill>
              </a:rPr>
              <a:t>A simulated emergency vehicle priority system showcases how the AI can </a:t>
            </a:r>
            <a:r>
              <a:rPr sz="1100" b="1">
                <a:solidFill>
                  <a:srgbClr val="E11D48"/>
                </a:solidFill>
              </a:rPr>
              <a:t>create green corridors for first responders</a:t>
            </a:r>
            <a:r>
              <a:rPr sz="1100">
                <a:solidFill>
                  <a:srgbClr val="000000"/>
                </a:solidFill>
              </a:rPr>
              <a:t> with zero cross-traffic conflict.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21224"/>
            <a:ext cx="6217920" cy="841248"/>
          </a:xfrm>
          <a:prstGeom prst="roundRect">
            <a:avLst/>
          </a:prstGeom>
          <a:solidFill>
            <a:srgbClr val="E4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/>
            <a:r>
              <a:rPr sz="1100">
                <a:solidFill>
                  <a:srgbClr val="000000"/>
                </a:solidFill>
              </a:rPr>
              <a:t>Designed to </a:t>
            </a:r>
            <a:r>
              <a:rPr sz="1100" b="1">
                <a:solidFill>
                  <a:srgbClr val="E11D48"/>
                </a:solidFill>
              </a:rPr>
              <a:t>integrate with existing city traffic camera networks</a:t>
            </a:r>
            <a:r>
              <a:rPr sz="1100">
                <a:solidFill>
                  <a:srgbClr val="000000"/>
                </a:solidFill>
              </a:rPr>
              <a:t>, making it a </a:t>
            </a:r>
            <a:r>
              <a:rPr sz="1100" b="1">
                <a:solidFill>
                  <a:srgbClr val="E11D48"/>
                </a:solidFill>
              </a:rPr>
              <a:t>cost-effective upgrade for modern smart cities</a:t>
            </a:r>
            <a:r>
              <a:rPr sz="11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417320"/>
            <a:ext cx="4480560" cy="4663440"/>
          </a:xfrm>
          <a:prstGeom prst="roundRect">
            <a:avLst/>
          </a:prstGeom>
          <a:solidFill>
            <a:srgbClr val="352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200"/>
              </a:spcAft>
              <a:defRPr b="1" sz="1400">
                <a:solidFill>
                  <a:srgbClr val="FDE047"/>
                </a:solidFill>
              </a:defRPr>
            </a:pPr>
            <a:r>
              <a:t>INTELLIGENT SYSTEM LAYERS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</a:defRPr>
            </a:pPr>
            <a:r>
              <a:t>🔷 Hardware &amp; CCTV Layer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Existing Municipal Cameras • Edge YOLOv8 Detection</a:t>
            </a:r>
          </a:p>
          <a:p>
            <a:pPr>
              <a:spcAft>
                <a:spcPts val="800"/>
              </a:spcAft>
              <a:defRPr sz="900" b="1">
                <a:solidFill>
                  <a:srgbClr val="FDE047"/>
                </a:solidFill>
              </a:defRPr>
            </a:pPr>
            <a:r>
              <a:t>↳ Real-time Traffic Data ➔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</a:defRPr>
            </a:pPr>
            <a:r>
              <a:t>🔷 AI &amp; Backend Layer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Predictive Fusion (+5/+10/+15m) • Node.js / Python</a:t>
            </a:r>
          </a:p>
          <a:p>
            <a:pPr>
              <a:spcAft>
                <a:spcPts val="800"/>
              </a:spcAft>
              <a:defRPr sz="900" b="1">
                <a:solidFill>
                  <a:srgbClr val="FDE047"/>
                </a:solidFill>
              </a:defRPr>
            </a:pPr>
            <a:r>
              <a:t>↳ Feeds Live Data &amp; Insights ➔</a:t>
            </a:r>
          </a:p>
          <a:p>
            <a:pPr>
              <a:spcAft>
                <a:spcPts val="200"/>
              </a:spcAft>
              <a:defRPr b="1" sz="1200">
                <a:solidFill>
                  <a:srgbClr val="FFFFFF"/>
                </a:solidFill>
              </a:defRPr>
            </a:pPr>
            <a:r>
              <a:t>🔷 Dashboard Layer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React 19 Web App • CCTV Actuation View • Audit Logs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👁 VISIONCRAFT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</a:defRPr>
            </a:pPr>
            <a:r>
              <a:t>💡 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7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8229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b="1" sz="1500">
                <a:solidFill>
                  <a:srgbClr val="1B365D"/>
                </a:solidFill>
              </a:defRPr>
            </a:pPr>
            <a:r>
              <a:t>CORE TECHNOLOGIES &amp; TOOLS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✔ AI / Vision Frameworks:
</a:t>
            </a:r>
            <a:r>
              <a:rPr sz="1100">
                <a:solidFill>
                  <a:srgbClr val="0F172A"/>
                </a:solidFill>
              </a:rPr>
              <a:t>   YOLOv8, ByteTrack, OpenCV, PyTorch, Scikit-learn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✔ Backend &amp; Telemetry:
</a:t>
            </a:r>
            <a:r>
              <a:rPr sz="1100">
                <a:solidFill>
                  <a:srgbClr val="0F172A"/>
                </a:solidFill>
              </a:rPr>
              <a:t>   Node.js, Express.js, Python 3.11, WebSocket, REST API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✔ Frontend &amp; Dashboards:
</a:t>
            </a:r>
            <a:r>
              <a:rPr sz="1100">
                <a:solidFill>
                  <a:srgbClr val="0F172A"/>
                </a:solidFill>
              </a:rPr>
              <a:t>   React 19, Vite, Tailwind CSS, Recharts, Framer Motion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✔ Hardware / Simulation:
</a:t>
            </a:r>
            <a:r>
              <a:rPr sz="1100">
                <a:solidFill>
                  <a:srgbClr val="0F172A"/>
                </a:solidFill>
              </a:rPr>
              <a:t>   SUMO, Hardware-in-the-Loop, ESP32/Raspberry Pi IoT, RTSP Feeds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B365D"/>
                </a:solidFill>
              </a:rPr>
              <a:t>✔ Standards &amp; Compliance:
</a:t>
            </a:r>
            <a:r>
              <a:rPr sz="1100">
                <a:solidFill>
                  <a:srgbClr val="0F172A"/>
                </a:solidFill>
              </a:rPr>
              <a:t>   IRC:106 Level of Service, MoRTH ITMS, GIGW 3.0 Bilingual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  <a:defRPr b="1" sz="1500">
                <a:solidFill>
                  <a:srgbClr val="1B365D"/>
                </a:solidFill>
              </a:defRPr>
            </a:pPr>
            <a:r>
              <a:t>DATA FLOW &amp; DECISION PIPELINE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9B"/>
                </a:solidFill>
              </a:rPr>
              <a:t>▶ 1. CCTV ➔ Vehicle Detection: </a:t>
            </a:r>
            <a:r>
              <a:rPr sz="1000">
                <a:solidFill>
                  <a:srgbClr val="0F172A"/>
                </a:solidFill>
              </a:rPr>
              <a:t>Municipal cameras feed RTSP video into YOLOv8 + ByteTrack.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9B"/>
                </a:solidFill>
              </a:rPr>
              <a:t>▶ 2. Processing With Sensors: </a:t>
            </a:r>
            <a:r>
              <a:rPr sz="1000">
                <a:solidFill>
                  <a:srgbClr val="0F172A"/>
                </a:solidFill>
              </a:rPr>
              <a:t>Calculates instantaneous Passenger Car Units (PCU) across lanes.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9B"/>
                </a:solidFill>
              </a:rPr>
              <a:t>▶ 3. Decision Making (Traffic Light): </a:t>
            </a:r>
            <a:r>
              <a:rPr sz="1000">
                <a:solidFill>
                  <a:srgbClr val="0F172A"/>
                </a:solidFill>
              </a:rPr>
              <a:t>AI determines optimal green duration (10s–60s) with 45s starvation cap.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9B"/>
                </a:solidFill>
              </a:rPr>
              <a:t>▶ 4. Direct Clearance Transition: </a:t>
            </a:r>
            <a:r>
              <a:rPr sz="1000">
                <a:solidFill>
                  <a:srgbClr val="0F172A"/>
                </a:solidFill>
              </a:rPr>
              <a:t>Signal switches immediately once crossing vehicles clear opposite signal crosswalk.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9B"/>
                </a:solidFill>
              </a:rPr>
              <a:t>▶ 5. Emergency Vehicle Prioritize: </a:t>
            </a:r>
            <a:r>
              <a:rPr sz="1000">
                <a:solidFill>
                  <a:srgbClr val="0F172A"/>
                </a:solidFill>
              </a:rPr>
              <a:t>Grants instant green corridor and locates emergency units in real-time.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9B"/>
                </a:solidFill>
              </a:rPr>
              <a:t>▶ 6. Traffic Police &amp; Central Dashboard: </a:t>
            </a:r>
            <a:r>
              <a:rPr sz="1000">
                <a:solidFill>
                  <a:srgbClr val="0F172A"/>
                </a:solidFill>
              </a:rPr>
              <a:t>Live actuation telemetry and route diversion alerts streamed to ICCC.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👁 VISIONCRAFT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</a:defRPr>
            </a:pPr>
            <a:r>
              <a:t>💡 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7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8229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05840"/>
          <a:ext cx="1109441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6156655"/>
              </a:tblGrid>
              <a:tr h="713232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Analysis of the feasibility</a:t>
                      </a:r>
                      <a:br/>
                      <a:r>
                        <a:t>of the idea</a:t>
                      </a:r>
                    </a:p>
                  </a:txBody>
                  <a:tcPr>
                    <a:solidFill>
                      <a:srgbClr val="46D4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Potential challenges</a:t>
                      </a:r>
                      <a:br/>
                      <a:r>
                        <a:t>and risks</a:t>
                      </a:r>
                    </a:p>
                  </a:txBody>
                  <a:tcPr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Strategies for overcoming these challenges</a:t>
                      </a:r>
                    </a:p>
                  </a:txBody>
                  <a:tcPr>
                    <a:solidFill>
                      <a:srgbClr val="A7F4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</a:defRPr>
                      </a:pPr>
                      <a:r>
                        <a:t>Proven Tech Stack</a:t>
                      </a:r>
                    </a:p>
                  </a:txBody>
                  <a:tcPr>
                    <a:solidFill>
                      <a:srgbClr val="46D4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Complex AI Integration</a:t>
                      </a:r>
                    </a:p>
                  </a:txBody>
                  <a:tcPr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Using well-documented RLlib / PyTorch libraries and pre-training in SUMO before live deployment reduces integration complexity.</a:t>
                      </a:r>
                    </a:p>
                  </a:txBody>
                  <a:tcPr>
                    <a:solidFill>
                      <a:srgbClr val="A7F4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</a:defRPr>
                      </a:pPr>
                      <a:r>
                        <a:t>Scalable by Design</a:t>
                      </a:r>
                    </a:p>
                  </a:txBody>
                  <a:tcPr>
                    <a:solidFill>
                      <a:srgbClr val="46D4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Resistance to New Systems</a:t>
                      </a:r>
                    </a:p>
                  </a:txBody>
                  <a:tcPr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The tangible demo proves effectiveness. The dashboard is designed for ease of use, requiring minimal training for traffic operators.</a:t>
                      </a:r>
                    </a:p>
                  </a:txBody>
                  <a:tcPr>
                    <a:solidFill>
                      <a:srgbClr val="A7F4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</a:defRPr>
                      </a:pPr>
                      <a:r>
                        <a:t>High Impact</a:t>
                      </a:r>
                    </a:p>
                  </a:txBody>
                  <a:tcPr>
                    <a:solidFill>
                      <a:srgbClr val="46D4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Accuracy</a:t>
                      </a:r>
                    </a:p>
                  </a:txBody>
                  <a:tcPr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Using a hybrid data approach (physical sensors + optional camera validation) ensures high-fidelity input data for the AI.</a:t>
                      </a:r>
                    </a:p>
                  </a:txBody>
                  <a:tcPr>
                    <a:solidFill>
                      <a:srgbClr val="A7F4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</a:defRPr>
                      </a:pPr>
                      <a:r>
                        <a:t>Low-Cost Hardware</a:t>
                      </a:r>
                    </a:p>
                  </a:txBody>
                  <a:tcPr>
                    <a:solidFill>
                      <a:srgbClr val="46D4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Real-Time Data Synchronization</a:t>
                      </a:r>
                    </a:p>
                  </a:txBody>
                  <a:tcPr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</a:defRPr>
                      </a:pPr>
                      <a:r>
                        <a:t>Using WebSockets and a lightweight MQTT protocol ensures minimal latency between the physical model and the AI brain.</a:t>
                      </a:r>
                    </a:p>
                  </a:txBody>
                  <a:tcPr>
                    <a:solidFill>
                      <a:srgbClr val="A7F43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110944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1B559B"/>
                </a:solidFill>
              </a:defRPr>
            </a:pPr>
            <a:r>
              <a:t>Security Measures: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559B"/>
                </a:solidFill>
              </a:rPr>
              <a:t>• Secure Authentication: </a:t>
            </a:r>
            <a:r>
              <a:rPr sz="1100">
                <a:solidFill>
                  <a:srgbClr val="0F172A"/>
                </a:solidFill>
              </a:rPr>
              <a:t>Role-Based Access Control (RBAC) for dashboard users.Data Encryption: All data transmissions encrypted.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559B"/>
                </a:solidFill>
              </a:rPr>
              <a:t>• Regular Security Audits: </a:t>
            </a:r>
            <a:r>
              <a:rPr sz="1100">
                <a:solidFill>
                  <a:srgbClr val="0F172A"/>
                </a:solidFill>
              </a:rPr>
              <a:t>Code and infrastructure designed for vulnerability testing.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1B559B"/>
                </a:solidFill>
              </a:rPr>
              <a:t>• Compliance: </a:t>
            </a:r>
            <a:r>
              <a:rPr sz="1100">
                <a:solidFill>
                  <a:srgbClr val="0F172A"/>
                </a:solidFill>
              </a:rPr>
              <a:t>Architecture designed to adhere to data privacy best practices.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👁 VISIONCRAFT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</a:defRPr>
            </a:pPr>
            <a:r>
              <a:t>💡 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7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27648"/>
            <a:ext cx="82296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051560"/>
            <a:ext cx="3931920" cy="548640"/>
          </a:xfrm>
          <a:prstGeom prst="roundRect">
            <a:avLst/>
          </a:prstGeom>
          <a:solidFill>
            <a:srgbClr val="FDB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Potential Impact on target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Commuters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60020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15–20% less</a:t>
            </a:r>
            <a:br/>
            <a:r>
              <a:t>commute time,</a:t>
            </a:r>
            <a:br/>
            <a:r>
              <a:t>stress &amp; fuel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6459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Traffic Police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103120"/>
            <a:ext cx="160020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Live traffic</a:t>
            </a:r>
            <a:br/>
            <a:r>
              <a:t>view, proactive</a:t>
            </a:r>
            <a:br/>
            <a:r>
              <a:t>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459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000000"/>
                </a:solidFill>
              </a:defRPr>
            </a:pPr>
            <a:r>
              <a:t>City Planners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103120"/>
            <a:ext cx="160020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High-res</a:t>
            </a:r>
            <a:br/>
            <a:r>
              <a:t>traffic data for</a:t>
            </a:r>
            <a:br/>
            <a:r>
              <a:t>planning &amp;</a:t>
            </a:r>
            <a:br/>
            <a:r>
              <a:t>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051560"/>
            <a:ext cx="4572000" cy="548640"/>
          </a:xfrm>
          <a:prstGeom prst="roundRect">
            <a:avLst/>
          </a:prstGeom>
          <a:solidFill>
            <a:srgbClr val="FDB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Benefits of 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600200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000000"/>
                </a:solidFill>
              </a:defRPr>
            </a:pPr>
            <a:r>
              <a:t>Economic</a:t>
            </a:r>
            <a:br/>
            <a:r>
              <a:t>Productivity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2103120"/>
            <a:ext cx="141732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Saves person-</a:t>
            </a:r>
            <a:br/>
            <a:r>
              <a:t>hours, boosts</a:t>
            </a:r>
            <a:br/>
            <a:r>
              <a:t>economy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600200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000000"/>
                </a:solidFill>
              </a:defRPr>
            </a:pPr>
            <a:r>
              <a:t>Fuel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103120"/>
            <a:ext cx="141732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Cuts fuel waste,</a:t>
            </a:r>
            <a:br/>
            <a:r>
              <a:t>reduces</a:t>
            </a:r>
            <a:br/>
            <a:r>
              <a:t>importst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00200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000000"/>
                </a:solidFill>
              </a:defRPr>
            </a:pPr>
            <a:r>
              <a:t>Carbon</a:t>
            </a:r>
            <a:br/>
            <a:r>
              <a:t>Credit</a:t>
            </a:r>
            <a:br/>
            <a:r>
              <a:t>Potential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2103120"/>
            <a:ext cx="141732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Monetizable</a:t>
            </a:r>
            <a:br/>
            <a:r>
              <a:t>emission cuts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1600200"/>
            <a:ext cx="1417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000000"/>
                </a:solidFill>
              </a:defRPr>
            </a:pPr>
            <a:r>
              <a:t>Urban</a:t>
            </a:r>
            <a:br/>
            <a:r>
              <a:t>Resilience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2103120"/>
            <a:ext cx="141732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Dynamic</a:t>
            </a:r>
            <a:br/>
            <a:r>
              <a:t>routes for</a:t>
            </a:r>
            <a:br/>
            <a:r>
              <a:t>emergencies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3291840" cy="1005840"/>
          </a:xfrm>
          <a:prstGeom prst="roundRect">
            <a:avLst/>
          </a:prstGeom>
          <a:solidFill>
            <a:srgbClr val="FDB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Enivornment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9768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000000"/>
                </a:solidFill>
              </a:defRPr>
            </a:pPr>
            <a:r>
              <a:t>───────── Reduce Emission ─────────▶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86200"/>
            <a:ext cx="3291840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Contribution to</a:t>
            </a:r>
            <a:br/>
            <a:r>
              <a:t>improve air ,</a:t>
            </a:r>
            <a:br/>
            <a:r>
              <a:t>smoother traffic</a:t>
            </a:r>
            <a:br/>
            <a:r>
              <a:t>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👁 VISIONCRAFT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37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</a:defRPr>
            </a:pPr>
            <a:r>
              <a:t>💡 SMART INDIA</a:t>
            </a:r>
            <a:br/>
            <a:r>
              <a:t>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82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RESEARCH 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7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000000"/>
                </a:solidFill>
              </a:rPr>
              <a:t>[1] A. Researcher, </a:t>
            </a:r>
            <a:r>
              <a:rPr b="1" sz="1300">
                <a:solidFill>
                  <a:srgbClr val="000000"/>
                </a:solidFill>
              </a:rPr>
              <a:t>“Traffic Optimization using AI,” </a:t>
            </a:r>
            <a:r>
              <a:rPr sz="1300">
                <a:solidFill>
                  <a:srgbClr val="000000"/>
                </a:solidFill>
              </a:rPr>
              <a:t>arXiv preprint arXiv:2502.02821, 2025. [Online].
Available: </a:t>
            </a:r>
            <a:r>
              <a:rPr b="1" u="sng" sz="1300">
                <a:solidFill>
                  <a:srgbClr val="000000"/>
                </a:solidFill>
              </a:rPr>
              <a:t>http://arxiv.org/abs/2502.02821</a:t>
            </a:r>
            <a:r>
              <a:rPr sz="1300">
                <a:solidFill>
                  <a:srgbClr val="000000"/>
                </a:solidFill>
              </a:rPr>
              <a:t>   (4th Feb 2025).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0000"/>
                </a:solidFill>
              </a:rPr>
              <a:t>[2] Y. Scholar and B. Scholar, </a:t>
            </a:r>
            <a:r>
              <a:rPr b="1" sz="1300">
                <a:solidFill>
                  <a:srgbClr val="000000"/>
                </a:solidFill>
              </a:rPr>
              <a:t>“Q-Learning for Adaptive Traffic Signals,” </a:t>
            </a:r>
            <a:r>
              <a:rPr sz="1300">
                <a:solidFill>
                  <a:srgbClr val="000000"/>
                </a:solidFill>
              </a:rPr>
              <a:t>arXiv preprint
arXiv:1711.10941, 2017. [Online]. Available: </a:t>
            </a:r>
            <a:r>
              <a:rPr b="1" u="sng" sz="1300">
                <a:solidFill>
                  <a:srgbClr val="000000"/>
                </a:solidFill>
              </a:rPr>
              <a:t>https://arxiv.org/abs/1711.10941</a:t>
            </a:r>
            <a:r>
              <a:rPr sz="1300">
                <a:solidFill>
                  <a:srgbClr val="000000"/>
                </a:solidFill>
              </a:rPr>
              <a:t>   (29th Nov 2017).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0000"/>
                </a:solidFill>
              </a:rPr>
              <a:t>[3] X. Author, </a:t>
            </a:r>
            <a:r>
              <a:rPr b="1" sz="1300">
                <a:solidFill>
                  <a:srgbClr val="000000"/>
                </a:solidFill>
              </a:rPr>
              <a:t>“Emergency Traffic Management,” </a:t>
            </a:r>
            <a:r>
              <a:rPr sz="1300">
                <a:solidFill>
                  <a:srgbClr val="000000"/>
                </a:solidFill>
              </a:rPr>
              <a:t>arXiv preprint arXiv:2304.14924, 2023. [Online].
Available: </a:t>
            </a:r>
            <a:r>
              <a:rPr b="1" u="sng" sz="1300">
                <a:solidFill>
                  <a:srgbClr val="000000"/>
                </a:solidFill>
              </a:rPr>
              <a:t>https://arxiv.org/abs/2304.14924</a:t>
            </a:r>
            <a:r>
              <a:rPr sz="1300">
                <a:solidFill>
                  <a:srgbClr val="000000"/>
                </a:solidFill>
              </a:rPr>
              <a:t>   (26th Apr 2023).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0000"/>
                </a:solidFill>
              </a:rPr>
              <a:t>[4] Z. Researcher, </a:t>
            </a:r>
            <a:r>
              <a:rPr b="1" sz="1300">
                <a:solidFill>
                  <a:srgbClr val="000000"/>
                </a:solidFill>
              </a:rPr>
              <a:t>“Collision Detection in Urban Mobility,” </a:t>
            </a:r>
            <a:r>
              <a:rPr sz="1300">
                <a:solidFill>
                  <a:srgbClr val="000000"/>
                </a:solidFill>
              </a:rPr>
              <a:t>arXiv preprint arXiv:1912.04801, 2019.
[Online]. Available: </a:t>
            </a:r>
            <a:r>
              <a:rPr b="1" u="sng" sz="1300">
                <a:solidFill>
                  <a:srgbClr val="000000"/>
                </a:solidFill>
              </a:rPr>
              <a:t>https://arxiv.org/abs/1912.04801</a:t>
            </a:r>
            <a:r>
              <a:rPr sz="1300">
                <a:solidFill>
                  <a:srgbClr val="000000"/>
                </a:solidFill>
              </a:rPr>
              <a:t>   (10th Dec 2019).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000000"/>
                </a:solidFill>
              </a:rPr>
              <a:t>[5] Y. B. Sardoan, </a:t>
            </a:r>
            <a:r>
              <a:rPr b="1" sz="1300">
                <a:solidFill>
                  <a:srgbClr val="000000"/>
                </a:solidFill>
              </a:rPr>
              <a:t>“Traffic Detection Project Dataset,” </a:t>
            </a:r>
            <a:r>
              <a:rPr sz="1300">
                <a:solidFill>
                  <a:srgbClr val="000000"/>
                </a:solidFill>
              </a:rPr>
              <a:t>Kaggle, 2023. [Online]. Available:
</a:t>
            </a:r>
            <a:r>
              <a:rPr b="1" u="sng" sz="1300">
                <a:solidFill>
                  <a:srgbClr val="000000"/>
                </a:solidFill>
              </a:rPr>
              <a:t>https://www.kaggle.com/datasets/yusufberksardoan/traffic-detection-project</a:t>
            </a:r>
            <a:r>
              <a:rPr sz="1300">
                <a:solidFill>
                  <a:srgbClr val="000000"/>
                </a:solidFill>
              </a:rPr>
              <a:t>   (5th Sept 2023).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